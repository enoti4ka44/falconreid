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ru-RU"/>
    </a:defPPr>
    <a:lvl1pPr marL="0" algn="l" defTabSz="91422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09" d="100"/>
          <a:sy n="109" d="100"/>
        </p:scale>
        <p:origin x="582" y="96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tableStyles" Target="tableStyles.xml"/><Relationship Id="rId24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mAP@10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 bwMode="auto">
              <a:prstGeom prst="rect">
                <a:avLst/>
              </a:prstGeom>
              <a:solidFill>
                <a:srgbClr val="8A83D1"/>
              </a:solidFill>
            </c:spPr>
          </c:dPt>
          <c:dPt>
            <c:idx val="1"/>
            <c:invertIfNegative val="1"/>
            <c:bubble3D val="0"/>
            <c:spPr bwMode="auto">
              <a:prstGeom prst="rect">
                <a:avLst/>
              </a:prstGeom>
              <a:solidFill>
                <a:srgbClr val="8A83D1"/>
              </a:solidFill>
            </c:spPr>
          </c:dPt>
          <c:dPt>
            <c:idx val="2"/>
            <c:invertIfNegative val="1"/>
            <c:bubble3D val="0"/>
            <c:spPr bwMode="auto">
              <a:prstGeom prst="rect">
                <a:avLst/>
              </a:prstGeom>
              <a:solidFill>
                <a:srgbClr val="FF0053"/>
              </a:solidFill>
            </c:spPr>
          </c:dPt>
          <c:dPt>
            <c:idx val="3"/>
            <c:invertIfNegative val="1"/>
            <c:bubble3D val="0"/>
            <c:spPr bwMode="auto">
              <a:prstGeom prst="rect">
                <a:avLst/>
              </a:prstGeom>
              <a:solidFill>
                <a:srgbClr val="FFD6E4"/>
              </a:solidFill>
            </c:spPr>
          </c:dPt>
          <c:dLbls>
            <c:dLbl>
              <c:idx val="0"/>
              <c:dLblPos val="outEnd"/>
              <c:layout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ru-RU" sz="1200" b="1">
                        <a:solidFill>
                          <a:srgbClr val="FFFFFF"/>
                        </a:solidFill>
                      </a:rPr>
                      <a:t>0.827</a:t>
                    </a:r>
                    <a:endParaRPr/>
                  </a:p>
                </c:rich>
              </c:tx>
              <c:extLst>
                <c:ext uri="{CE6537A1-D6FC-4f65-9D91-7224C49458BB}">
                  <c15:showDataLabelsRange val="0"/>
                </c:ext>
              </c:extLst>
            </c:dLbl>
            <c:dLbl>
              <c:idx val="1"/>
              <c:dLblPos val="outEnd"/>
              <c:layout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ru-RU" sz="1200" b="1">
                        <a:solidFill>
                          <a:srgbClr val="FFFFFF"/>
                        </a:solidFill>
                      </a:rPr>
                      <a:t>0.851</a:t>
                    </a:r>
                    <a:endParaRPr/>
                  </a:p>
                </c:rich>
              </c:tx>
              <c:extLst>
                <c:ext uri="{CE6537A1-D6FC-4f65-9D91-7224C49458BB}">
                  <c15:showDataLabelsRange val="0"/>
                </c:ext>
              </c:extLst>
            </c:dLbl>
            <c:dLbl>
              <c:idx val="2"/>
              <c:dLblPos val="outEnd"/>
              <c:layout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ru-RU" sz="1200" b="1">
                        <a:solidFill>
                          <a:srgbClr val="FFFFFF"/>
                        </a:solidFill>
                      </a:rPr>
                      <a:t>0.859</a:t>
                    </a:r>
                    <a:endParaRPr/>
                  </a:p>
                </c:rich>
              </c:tx>
              <c:extLst>
                <c:ext uri="{CE6537A1-D6FC-4f65-9D91-7224C49458BB}">
                  <c15:showDataLabelsRange val="0"/>
                </c:ext>
              </c:extLst>
            </c:dLbl>
            <c:dLbl>
              <c:idx val="3"/>
              <c:dLblPos val="outEnd"/>
              <c:layout/>
              <c:showBubbleSize val="0"/>
              <c:showCatName val="0"/>
              <c:showLegendKey val="0"/>
              <c:showPercent val="0"/>
              <c:showSerName val="0"/>
              <c:showVal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ru-RU" sz="1200" b="1">
                        <a:solidFill>
                          <a:srgbClr val="FFFFFF"/>
                        </a:solidFill>
                      </a:rPr>
                      <a:t>0.883</a:t>
                    </a:r>
                    <a:endParaRPr/>
                  </a:p>
                </c:rich>
              </c:tx>
              <c:extLst>
                <c:ext uri="{CE6537A1-D6FC-4f65-9D91-7224C49458BB}">
                  <c15:showDataLabelsRange val="0"/>
                </c:ext>
              </c:extLst>
            </c:dLbl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spPr bwMode="auto">
              <a:prstGeom prst="rect">
                <a:avLst/>
              </a:prstGeom>
              <a:noFill/>
              <a:ln>
                <a:noFill/>
              </a:ln>
              <a:effectLst/>
            </c:spPr>
          </c:dLbls>
          <c:cat>
            <c:strRef>
              <c:f>Sheet1!$A$2:$A$5</c:f>
              <c:strCache>
                <c:ptCount val="4"/>
                <c:pt idx="0">
                  <c:v>v2: 4 модели</c:v>
                </c:pt>
                <c:pt idx="1">
                  <c:v>v3: 2 модели</c:v>
                </c:pt>
                <c:pt idx="2">
                  <c:v>v4 (прод)</c:v>
                </c:pt>
                <c:pt idx="3">
                  <c:v>ViT-H+ (архив)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0.8268</c:v>
                </c:pt>
                <c:pt idx="1">
                  <c:v>0.8508</c:v>
                </c:pt>
                <c:pt idx="2">
                  <c:v>0.8585</c:v>
                </c:pt>
                <c:pt idx="3">
                  <c:v>0.8828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>
                <a:solidFill>
                  <a:srgbClr val="FFFFFF"/>
                </a:solidFill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00000"/>
          <c:min val="0.80000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 bwMode="auto">
    <a:xfrm>
      <a:off x="320040" y="1965960"/>
      <a:ext cx="5669280" cy="2976372"/>
    </a:xfrm>
  </c:spPr>
  <c:txPr>
    <a:bodyPr/>
    <a:lstStyle/>
    <a:p>
      <a:pPr>
        <a:defRPr sz="1100">
          <a:solidFill>
            <a:srgbClr val="FFFFFF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sz="1100" b="1"/>
              <a:t>Кривые на отложенной валидации · τ = 0.455</a:t>
            </a:r>
            <a:endParaRPr/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FF0053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0.25</c:v>
                </c:pt>
                <c:pt idx="1">
                  <c:v>0.275</c:v>
                </c:pt>
                <c:pt idx="2">
                  <c:v>0.3</c:v>
                </c:pt>
                <c:pt idx="3">
                  <c:v>0.325</c:v>
                </c:pt>
                <c:pt idx="4">
                  <c:v>0.35</c:v>
                </c:pt>
                <c:pt idx="5">
                  <c:v>0.375</c:v>
                </c:pt>
                <c:pt idx="6">
                  <c:v>0.4</c:v>
                </c:pt>
                <c:pt idx="7">
                  <c:v>0.425</c:v>
                </c:pt>
                <c:pt idx="8">
                  <c:v>0.45</c:v>
                </c:pt>
                <c:pt idx="9">
                  <c:v>0.475</c:v>
                </c:pt>
                <c:pt idx="10">
                  <c:v>0.5</c:v>
                </c:pt>
                <c:pt idx="11">
                  <c:v>0.525</c:v>
                </c:pt>
                <c:pt idx="12">
                  <c:v>0.55</c:v>
                </c:pt>
                <c:pt idx="13">
                  <c:v>0.575</c:v>
                </c:pt>
                <c:pt idx="14">
                  <c:v>0.6</c:v>
                </c:pt>
                <c:pt idx="15">
                  <c:v>0.625</c:v>
                </c:pt>
                <c:pt idx="16">
                  <c:v>0.65</c:v>
                </c:pt>
                <c:pt idx="17">
                  <c:v>0.675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0.8015</c:v>
                </c:pt>
                <c:pt idx="1">
                  <c:v>0.8068</c:v>
                </c:pt>
                <c:pt idx="2">
                  <c:v>0.812</c:v>
                </c:pt>
                <c:pt idx="3">
                  <c:v>0.8147</c:v>
                </c:pt>
                <c:pt idx="4">
                  <c:v>0.8159</c:v>
                </c:pt>
                <c:pt idx="5">
                  <c:v>0.8067</c:v>
                </c:pt>
                <c:pt idx="6">
                  <c:v>0.7883</c:v>
                </c:pt>
                <c:pt idx="7">
                  <c:v>0.7666</c:v>
                </c:pt>
                <c:pt idx="8">
                  <c:v>0.7382</c:v>
                </c:pt>
                <c:pt idx="9">
                  <c:v>0.7011</c:v>
                </c:pt>
                <c:pt idx="10">
                  <c:v>0.6622</c:v>
                </c:pt>
                <c:pt idx="11">
                  <c:v>0.6086</c:v>
                </c:pt>
                <c:pt idx="12">
                  <c:v>0.5551</c:v>
                </c:pt>
                <c:pt idx="13">
                  <c:v>0.4961</c:v>
                </c:pt>
                <c:pt idx="14">
                  <c:v>0.4277</c:v>
                </c:pt>
                <c:pt idx="15">
                  <c:v>0.343</c:v>
                </c:pt>
                <c:pt idx="16">
                  <c:v>0.2685</c:v>
                </c:pt>
                <c:pt idx="17">
                  <c:v>0.214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TNR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8A83D1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0.25</c:v>
                </c:pt>
                <c:pt idx="1">
                  <c:v>0.275</c:v>
                </c:pt>
                <c:pt idx="2">
                  <c:v>0.3</c:v>
                </c:pt>
                <c:pt idx="3">
                  <c:v>0.325</c:v>
                </c:pt>
                <c:pt idx="4">
                  <c:v>0.35</c:v>
                </c:pt>
                <c:pt idx="5">
                  <c:v>0.375</c:v>
                </c:pt>
                <c:pt idx="6">
                  <c:v>0.4</c:v>
                </c:pt>
                <c:pt idx="7">
                  <c:v>0.425</c:v>
                </c:pt>
                <c:pt idx="8">
                  <c:v>0.45</c:v>
                </c:pt>
                <c:pt idx="9">
                  <c:v>0.475</c:v>
                </c:pt>
                <c:pt idx="10">
                  <c:v>0.5</c:v>
                </c:pt>
                <c:pt idx="11">
                  <c:v>0.525</c:v>
                </c:pt>
                <c:pt idx="12">
                  <c:v>0.55</c:v>
                </c:pt>
                <c:pt idx="13">
                  <c:v>0.575</c:v>
                </c:pt>
                <c:pt idx="14">
                  <c:v>0.6</c:v>
                </c:pt>
                <c:pt idx="15">
                  <c:v>0.625</c:v>
                </c:pt>
                <c:pt idx="16">
                  <c:v>0.65</c:v>
                </c:pt>
                <c:pt idx="17">
                  <c:v>0.675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0.0537</c:v>
                </c:pt>
                <c:pt idx="1">
                  <c:v>0.1118</c:v>
                </c:pt>
                <c:pt idx="2">
                  <c:v>0.1832</c:v>
                </c:pt>
                <c:pt idx="3">
                  <c:v>0.2636</c:v>
                </c:pt>
                <c:pt idx="4">
                  <c:v>0.3522</c:v>
                </c:pt>
                <c:pt idx="5">
                  <c:v>0.4424</c:v>
                </c:pt>
                <c:pt idx="6">
                  <c:v>0.5275</c:v>
                </c:pt>
                <c:pt idx="7">
                  <c:v>0.6047</c:v>
                </c:pt>
                <c:pt idx="8">
                  <c:v>0.6807</c:v>
                </c:pt>
                <c:pt idx="9">
                  <c:v>0.7578</c:v>
                </c:pt>
                <c:pt idx="10">
                  <c:v>0.8228</c:v>
                </c:pt>
                <c:pt idx="11">
                  <c:v>0.8532</c:v>
                </c:pt>
                <c:pt idx="12">
                  <c:v>0.8801</c:v>
                </c:pt>
                <c:pt idx="13">
                  <c:v>0.9035</c:v>
                </c:pt>
                <c:pt idx="14">
                  <c:v>0.9379</c:v>
                </c:pt>
                <c:pt idx="15">
                  <c:v>0.9577</c:v>
                </c:pt>
                <c:pt idx="16">
                  <c:v>0.9786</c:v>
                </c:pt>
                <c:pt idx="17">
                  <c:v>0.9925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балл 0.7·F1+0.3·TNR</c:v>
                </c:pt>
              </c:strCache>
            </c:strRef>
          </c:tx>
          <c:spPr bwMode="auto">
            <a:prstGeom prst="rect">
              <a:avLst/>
            </a:prstGeom>
            <a:ln w="38100">
              <a:solidFill>
                <a:srgbClr val="310F53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0.25</c:v>
                </c:pt>
                <c:pt idx="1">
                  <c:v>0.275</c:v>
                </c:pt>
                <c:pt idx="2">
                  <c:v>0.3</c:v>
                </c:pt>
                <c:pt idx="3">
                  <c:v>0.325</c:v>
                </c:pt>
                <c:pt idx="4">
                  <c:v>0.35</c:v>
                </c:pt>
                <c:pt idx="5">
                  <c:v>0.375</c:v>
                </c:pt>
                <c:pt idx="6">
                  <c:v>0.4</c:v>
                </c:pt>
                <c:pt idx="7">
                  <c:v>0.425</c:v>
                </c:pt>
                <c:pt idx="8">
                  <c:v>0.45</c:v>
                </c:pt>
                <c:pt idx="9">
                  <c:v>0.475</c:v>
                </c:pt>
                <c:pt idx="10">
                  <c:v>0.5</c:v>
                </c:pt>
                <c:pt idx="11">
                  <c:v>0.525</c:v>
                </c:pt>
                <c:pt idx="12">
                  <c:v>0.55</c:v>
                </c:pt>
                <c:pt idx="13">
                  <c:v>0.575</c:v>
                </c:pt>
                <c:pt idx="14">
                  <c:v>0.6</c:v>
                </c:pt>
                <c:pt idx="15">
                  <c:v>0.625</c:v>
                </c:pt>
                <c:pt idx="16">
                  <c:v>0.65</c:v>
                </c:pt>
                <c:pt idx="17">
                  <c:v>0.675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0.5771599999999999</c:v>
                </c:pt>
                <c:pt idx="1">
                  <c:v>0.5982999999999999</c:v>
                </c:pt>
                <c:pt idx="2">
                  <c:v>0.62336</c:v>
                </c:pt>
                <c:pt idx="3">
                  <c:v>0.64937</c:v>
                </c:pt>
                <c:pt idx="4">
                  <c:v>0.6767899999999999</c:v>
                </c:pt>
                <c:pt idx="5">
                  <c:v>0.6974099999999999</c:v>
                </c:pt>
                <c:pt idx="6">
                  <c:v>0.7100599999999999</c:v>
                </c:pt>
                <c:pt idx="7">
                  <c:v>0.7180299999999998</c:v>
                </c:pt>
                <c:pt idx="8">
                  <c:v>0.72095</c:v>
                </c:pt>
                <c:pt idx="9">
                  <c:v>0.7181099999999999</c:v>
                </c:pt>
                <c:pt idx="10">
                  <c:v>0.7103799999999999</c:v>
                </c:pt>
                <c:pt idx="11">
                  <c:v>0.68198</c:v>
                </c:pt>
                <c:pt idx="12">
                  <c:v>0.6526000000000001</c:v>
                </c:pt>
                <c:pt idx="13">
                  <c:v>0.61832</c:v>
                </c:pt>
                <c:pt idx="14">
                  <c:v>0.5807599999999999</c:v>
                </c:pt>
                <c:pt idx="15">
                  <c:v>0.52741</c:v>
                </c:pt>
                <c:pt idx="16">
                  <c:v>0.48153</c:v>
                </c:pt>
                <c:pt idx="17">
                  <c:v>0.44755</c:v>
                </c:pt>
              </c:numCache>
            </c:numRef>
          </c:val>
          <c:smooth val="1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ru-RU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.0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>
              <a:solidFill>
                <a:srgbClr val="E4E0EC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spPr bwMode="auto">
    <a:xfrm>
      <a:off x="457200" y="1371600"/>
      <a:ext cx="4800600" cy="5365242"/>
    </a:xfrm>
  </c:spPr>
  <c:txPr>
    <a:bodyPr/>
    <a:lstStyle/>
    <a:p>
      <a:pPr>
        <a:defRPr sz="1000">
          <a:solidFill>
            <a:srgbClr val="2A1A3A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mAP@10</c:v>
                </c:pt>
              </c:strCache>
            </c:strRef>
          </c:tx>
          <c:dPt>
            <c:idx val="0"/>
            <c:spPr>
              <a:solidFill>
                <a:srgbClr val="8A83D1"/>
              </a:solidFill>
              <a:ln>
                <a:noFill/>
              </a:ln>
            </c:spPr>
          </c:dPt>
          <c:dPt>
            <c:idx val="1"/>
            <c:spPr>
              <a:solidFill>
                <a:srgbClr val="A99BF0"/>
              </a:solidFill>
              <a:ln>
                <a:noFill/>
              </a:ln>
            </c:spPr>
          </c:dPt>
          <c:dPt>
            <c:idx val="2"/>
            <c:spPr>
              <a:solidFill>
                <a:srgbClr val="FF0053"/>
              </a:solidFill>
              <a:ln>
                <a:noFill/>
              </a:ln>
            </c:spPr>
          </c:dPt>
          <c:dPt>
            <c:idx val="3"/>
            <c:spPr>
              <a:solidFill>
                <a:srgbClr val="FFB3C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FFFFFF"/>
                        </a:solidFill>
                        <a:latin typeface="Montserrat"/>
                      </a:rPr>
                      <a:t>0.827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FFFFFF"/>
                        </a:solidFill>
                        <a:latin typeface="Montserrat"/>
                      </a:rPr>
                      <a:t>0.851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FFFFFF"/>
                        </a:solidFill>
                        <a:latin typeface="Montserrat"/>
                      </a:rPr>
                      <a:t>0.859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FFFFFF"/>
                        </a:solidFill>
                        <a:latin typeface="Montserrat"/>
                      </a:rPr>
                      <a:t>0.883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v2 · 4 модели</c:v>
                </c:pt>
                <c:pt idx="1">
                  <c:v>v3 · 2 модели</c:v>
                </c:pt>
                <c:pt idx="2">
                  <c:v>v4 · прод</c:v>
                </c:pt>
                <c:pt idx="3">
                  <c:v>ViT-H+ · архив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0.8268</c:v>
                </c:pt>
                <c:pt idx="1">
                  <c:v>0.8508</c:v>
                </c:pt>
                <c:pt idx="2">
                  <c:v>0.8585</c:v>
                </c:pt>
                <c:pt idx="3">
                  <c:v>0.8828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D9CF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8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solidFill>
            <a:srgbClr val="FFFFFF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ln w="31750">
              <a:solidFill>
                <a:srgbClr val="FF0053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0.25</c:v>
                </c:pt>
                <c:pt idx="1">
                  <c:v> </c:v>
                </c:pt>
                <c:pt idx="2">
                  <c:v>0.3</c:v>
                </c:pt>
                <c:pt idx="3">
                  <c:v>   </c:v>
                </c:pt>
                <c:pt idx="4">
                  <c:v>0.35</c:v>
                </c:pt>
                <c:pt idx="5">
                  <c:v>     </c:v>
                </c:pt>
                <c:pt idx="6">
                  <c:v>0.4</c:v>
                </c:pt>
                <c:pt idx="7">
                  <c:v>       </c:v>
                </c:pt>
                <c:pt idx="8">
                  <c:v>0.45</c:v>
                </c:pt>
                <c:pt idx="9">
                  <c:v>         </c:v>
                </c:pt>
                <c:pt idx="10">
                  <c:v>0.5</c:v>
                </c:pt>
                <c:pt idx="11">
                  <c:v>           </c:v>
                </c:pt>
                <c:pt idx="12">
                  <c:v>0.55</c:v>
                </c:pt>
                <c:pt idx="13">
                  <c:v>             </c:v>
                </c:pt>
                <c:pt idx="14">
                  <c:v>0.6</c:v>
                </c:pt>
                <c:pt idx="15">
                  <c:v>               </c:v>
                </c:pt>
                <c:pt idx="16">
                  <c:v>0.65</c:v>
                </c:pt>
                <c:pt idx="17">
                  <c:v>                 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0.8015</c:v>
                </c:pt>
                <c:pt idx="1">
                  <c:v>0.8068</c:v>
                </c:pt>
                <c:pt idx="2">
                  <c:v>0.812</c:v>
                </c:pt>
                <c:pt idx="3">
                  <c:v>0.8147</c:v>
                </c:pt>
                <c:pt idx="4">
                  <c:v>0.8159</c:v>
                </c:pt>
                <c:pt idx="5">
                  <c:v>0.8067</c:v>
                </c:pt>
                <c:pt idx="6">
                  <c:v>0.7883</c:v>
                </c:pt>
                <c:pt idx="7">
                  <c:v>0.7666</c:v>
                </c:pt>
                <c:pt idx="8">
                  <c:v>0.7382</c:v>
                </c:pt>
                <c:pt idx="9">
                  <c:v>0.7011</c:v>
                </c:pt>
                <c:pt idx="10">
                  <c:v>0.6622</c:v>
                </c:pt>
                <c:pt idx="11">
                  <c:v>0.6086</c:v>
                </c:pt>
                <c:pt idx="12">
                  <c:v>0.5551</c:v>
                </c:pt>
                <c:pt idx="13">
                  <c:v>0.4961</c:v>
                </c:pt>
                <c:pt idx="14">
                  <c:v>0.4277</c:v>
                </c:pt>
                <c:pt idx="15">
                  <c:v>0.343</c:v>
                </c:pt>
                <c:pt idx="16">
                  <c:v>0.2685</c:v>
                </c:pt>
                <c:pt idx="17">
                  <c:v>0.214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TNR</c:v>
                </c:pt>
              </c:strCache>
            </c:strRef>
          </c:tx>
          <c:spPr>
            <a:ln w="31750">
              <a:solidFill>
                <a:srgbClr val="8A83D1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0.25</c:v>
                </c:pt>
                <c:pt idx="1">
                  <c:v> </c:v>
                </c:pt>
                <c:pt idx="2">
                  <c:v>0.3</c:v>
                </c:pt>
                <c:pt idx="3">
                  <c:v>   </c:v>
                </c:pt>
                <c:pt idx="4">
                  <c:v>0.35</c:v>
                </c:pt>
                <c:pt idx="5">
                  <c:v>     </c:v>
                </c:pt>
                <c:pt idx="6">
                  <c:v>0.4</c:v>
                </c:pt>
                <c:pt idx="7">
                  <c:v>       </c:v>
                </c:pt>
                <c:pt idx="8">
                  <c:v>0.45</c:v>
                </c:pt>
                <c:pt idx="9">
                  <c:v>         </c:v>
                </c:pt>
                <c:pt idx="10">
                  <c:v>0.5</c:v>
                </c:pt>
                <c:pt idx="11">
                  <c:v>           </c:v>
                </c:pt>
                <c:pt idx="12">
                  <c:v>0.55</c:v>
                </c:pt>
                <c:pt idx="13">
                  <c:v>             </c:v>
                </c:pt>
                <c:pt idx="14">
                  <c:v>0.6</c:v>
                </c:pt>
                <c:pt idx="15">
                  <c:v>               </c:v>
                </c:pt>
                <c:pt idx="16">
                  <c:v>0.65</c:v>
                </c:pt>
                <c:pt idx="17">
                  <c:v>                 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0.0537</c:v>
                </c:pt>
                <c:pt idx="1">
                  <c:v>0.1118</c:v>
                </c:pt>
                <c:pt idx="2">
                  <c:v>0.1832</c:v>
                </c:pt>
                <c:pt idx="3">
                  <c:v>0.2636</c:v>
                </c:pt>
                <c:pt idx="4">
                  <c:v>0.3522</c:v>
                </c:pt>
                <c:pt idx="5">
                  <c:v>0.4424</c:v>
                </c:pt>
                <c:pt idx="6">
                  <c:v>0.5275</c:v>
                </c:pt>
                <c:pt idx="7">
                  <c:v>0.6047</c:v>
                </c:pt>
                <c:pt idx="8">
                  <c:v>0.6807</c:v>
                </c:pt>
                <c:pt idx="9">
                  <c:v>0.7578</c:v>
                </c:pt>
                <c:pt idx="10">
                  <c:v>0.8228</c:v>
                </c:pt>
                <c:pt idx="11">
                  <c:v>0.8532</c:v>
                </c:pt>
                <c:pt idx="12">
                  <c:v>0.8801</c:v>
                </c:pt>
                <c:pt idx="13">
                  <c:v>0.9035</c:v>
                </c:pt>
                <c:pt idx="14">
                  <c:v>0.9379</c:v>
                </c:pt>
                <c:pt idx="15">
                  <c:v>0.9577</c:v>
                </c:pt>
                <c:pt idx="16">
                  <c:v>0.9786</c:v>
                </c:pt>
                <c:pt idx="17">
                  <c:v>0.9925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балл 0.7·F1 + 0.3·TNR</c:v>
                </c:pt>
              </c:strCache>
            </c:strRef>
          </c:tx>
          <c:spPr>
            <a:ln w="47625">
              <a:solidFill>
                <a:srgbClr val="2B0F4C"/>
              </a:solidFill>
            </a:ln>
          </c:spPr>
          <c:marker>
            <c:symbol val="none"/>
          </c:marker>
          <c:dPt>
            <c:idx val="8"/>
            <c:marker>
              <c:symbol val="circle"/>
              <c:size val="10"/>
              <c:spPr>
                <a:solidFill>
                  <a:srgbClr val="FF0053"/>
                </a:solidFill>
                <a:ln>
                  <a:solidFill>
                    <a:srgbClr val="FFFFFF"/>
                  </a:solidFill>
                </a:ln>
              </c:spPr>
            </c:marker>
          </c:dPt>
          <c:cat>
            <c:strRef>
              <c:f>Sheet1!$A$2:$A$19</c:f>
              <c:strCache>
                <c:ptCount val="18"/>
                <c:pt idx="0">
                  <c:v>0.25</c:v>
                </c:pt>
                <c:pt idx="1">
                  <c:v> </c:v>
                </c:pt>
                <c:pt idx="2">
                  <c:v>0.3</c:v>
                </c:pt>
                <c:pt idx="3">
                  <c:v>   </c:v>
                </c:pt>
                <c:pt idx="4">
                  <c:v>0.35</c:v>
                </c:pt>
                <c:pt idx="5">
                  <c:v>     </c:v>
                </c:pt>
                <c:pt idx="6">
                  <c:v>0.4</c:v>
                </c:pt>
                <c:pt idx="7">
                  <c:v>       </c:v>
                </c:pt>
                <c:pt idx="8">
                  <c:v>0.45</c:v>
                </c:pt>
                <c:pt idx="9">
                  <c:v>         </c:v>
                </c:pt>
                <c:pt idx="10">
                  <c:v>0.5</c:v>
                </c:pt>
                <c:pt idx="11">
                  <c:v>           </c:v>
                </c:pt>
                <c:pt idx="12">
                  <c:v>0.55</c:v>
                </c:pt>
                <c:pt idx="13">
                  <c:v>             </c:v>
                </c:pt>
                <c:pt idx="14">
                  <c:v>0.6</c:v>
                </c:pt>
                <c:pt idx="15">
                  <c:v>               </c:v>
                </c:pt>
                <c:pt idx="16">
                  <c:v>0.65</c:v>
                </c:pt>
                <c:pt idx="17">
                  <c:v>                 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0.5772</c:v>
                </c:pt>
                <c:pt idx="1">
                  <c:v>0.5983</c:v>
                </c:pt>
                <c:pt idx="2">
                  <c:v>0.6234</c:v>
                </c:pt>
                <c:pt idx="3">
                  <c:v>0.6494</c:v>
                </c:pt>
                <c:pt idx="4">
                  <c:v>0.6768</c:v>
                </c:pt>
                <c:pt idx="5">
                  <c:v>0.6974</c:v>
                </c:pt>
                <c:pt idx="6">
                  <c:v>0.7101</c:v>
                </c:pt>
                <c:pt idx="7">
                  <c:v>0.718</c:v>
                </c:pt>
                <c:pt idx="8">
                  <c:v>0.7209</c:v>
                </c:pt>
                <c:pt idx="9">
                  <c:v>0.7181</c:v>
                </c:pt>
                <c:pt idx="10">
                  <c:v>0.7104</c:v>
                </c:pt>
                <c:pt idx="11">
                  <c:v>0.682</c:v>
                </c:pt>
                <c:pt idx="12">
                  <c:v>0.6526</c:v>
                </c:pt>
                <c:pt idx="13">
                  <c:v>0.6183</c:v>
                </c:pt>
                <c:pt idx="14">
                  <c:v>0.5808</c:v>
                </c:pt>
                <c:pt idx="15">
                  <c:v>0.5274</c:v>
                </c:pt>
                <c:pt idx="16">
                  <c:v>0.4815</c:v>
                </c:pt>
                <c:pt idx="17">
                  <c:v>0.4476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CCEB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FE6F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2118791784"/>
        <c:crosses val="autoZero"/>
        <c:majorUnit val="0.2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B4E6E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28.09.2026</a:t>
            </a:fld>
            <a:endParaRPr lang="ru-RU"/>
          </a:p>
        </p:txBody>
      </p:sp>
      <p:sp>
        <p:nvSpPr>
          <p:cNvPr id="4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BFFAA0-E84E-74A6-7388-5B41082169B5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16B259-D173-C460-574C-38039EDBD1CF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DB7FFD-F802-CA7F-12A7-969F4F53EAD7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66B7FB-BE78-B7F0-8362-81718684655D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9E6D20-02B1-F98A-CF81-0B58C893BA98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536FC9-EF7A-C95F-93A2-BF871A944F42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54AB49-CED1-AC4F-A51E-CB72E7EB0B39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701FBB-9234-0870-EAFF-A4C0E10114C3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5F63D2-DA64-6EDE-DEF8-68BE8B2A144D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E37D20-7D8D-B357-30DA-7D9F1B5514A2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AFC172-1104-8649-186D-12C71D9F1B95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74415-B312-2652-3B40-A26E20F0AEF7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227767-1AAB-B8E2-265F-C3B44AFBEFB1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1724C-09EC-5C31-E41F-12A1573D52EE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B6236-171F-32E1-EED8-70E5601CA084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A50E55-0C93-6AA3-135E-C55C183AC68D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29BB27-1EAB-E452-87EA-2BFFE76CA536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2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47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4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1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3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5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28.09.2026</a:t>
            </a:fld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28.09.2026</a:t>
            </a:fld>
            <a:endParaRPr lang="ru-RU"/>
          </a:p>
        </p:txBody>
      </p:sp>
      <p:sp>
        <p:nvSpPr>
          <p:cNvPr id="2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28.09.2026</a:t>
            </a:fld>
            <a:endParaRPr lang="ru-RU"/>
          </a:p>
        </p:txBody>
      </p:sp>
      <p:sp>
        <p:nvSpPr>
          <p:cNvPr id="1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28.09.2026</a:t>
            </a:fld>
            <a:endParaRPr lang="ru-RU"/>
          </a:p>
        </p:txBody>
      </p:sp>
      <p:sp>
        <p:nvSpPr>
          <p:cNvPr id="13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28.09.2026</a:t>
            </a:fld>
            <a:endParaRPr lang="ru-RU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2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4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5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1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3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5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7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8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2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30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31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32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7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9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0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3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75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6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7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8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0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0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0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52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53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8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0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91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0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1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0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0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123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6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7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0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1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2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68" name="Google Shape;2799;p94"/>
          <p:cNvCxnSpPr>
            <a:cxnSpLocks/>
          </p:cNvCxnSpPr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/>
          <p:cNvCxnSpPr>
            <a:cxnSpLocks/>
          </p:cNvCxnSpPr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/>
          <p:cNvCxnSpPr>
            <a:cxnSpLocks/>
          </p:cNvCxnSpPr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/>
          <p:cNvCxnSpPr>
            <a:cxnSpLocks/>
          </p:cNvCxnSpPr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28.09.2026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28.09.2026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7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8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0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Team" Type="http://schemas.openxmlformats.org/officeDocument/2006/relationships/image" Target="../media/team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chart" Target="../charts/chart2.xml"/><Relationship Id="rId5" Type="http://schemas.openxmlformats.org/officeDocument/2006/relationships/chart" Target="../charts/chart4.xml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hyperlink" Target="https://reid.up-point.tech/app" TargetMode="External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hyperlink" Target="https://github.com/Enoti4Ka44/FalconREID/blob/main/docs/falcon_demo.mp4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47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hyperlink" Target="https://github.com/Enoti4Ka44/FalconREI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hyperlink" Target="https://reid.up-point.tech/app" TargetMode="External"/><Relationship Id="rId11" Type="http://schemas.openxmlformats.org/officeDocument/2006/relationships/hyperlink" Target="https://github.com/Enoti4Ka44/FalconREI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/>
              <a:t>БРЯНСК - 1</a:t>
            </a:r>
            <a:endParaRPr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</p:sp>
      <p:sp>
        <p:nvSpPr>
          <p:cNvPr id="2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502920" y="192024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  <a:defRPr/>
            </a:pPr>
            <a:r>
              <a:rPr sz="4400" b="1">
                <a:solidFill>
                  <a:srgbClr val="FFFFFF"/>
                </a:solidFill>
                <a:latin typeface="Montserrat"/>
              </a:rPr>
              <a:t>ФАЛЬКОН·ReID</a:t>
            </a:r>
            <a:endParaRPr/>
          </a:p>
          <a:p>
            <a:pPr algn="l">
              <a:lnSpc>
                <a:spcPct val="112000"/>
              </a:lnSpc>
              <a:spcAft>
                <a:spcPts val="400"/>
              </a:spcAft>
              <a:defRPr/>
            </a:pPr>
            <a:r>
              <a:rPr sz="2000" b="0">
                <a:solidFill>
                  <a:srgbClr val="FFFFFF"/>
                </a:solidFill>
                <a:latin typeface="Montserrat"/>
              </a:rPr>
              <a:t>Цифровой признак транспортного средства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  <a:defRPr/>
            </a:pPr>
            <a:r>
              <a:rPr sz="1400" b="0">
                <a:solidFill>
                  <a:srgbClr val="FFD6E4"/>
                </a:solidFill>
                <a:latin typeface="Montserrat"/>
              </a:rPr>
              <a:t>Поиск автомобиля по внешности — без государственного номера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502920" y="5394960"/>
            <a:ext cx="5943600" cy="434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defRPr/>
            </a:pPr>
            <a:r>
              <a:rPr sz="1300" b="1">
                <a:solidFill>
                  <a:srgbClr val="FFFFFF"/>
                </a:solidFill>
                <a:latin typeface="Montserrat"/>
              </a:rPr>
              <a:t>Кейс</a:t>
            </a:r>
            <a:r>
              <a:rPr sz="1300" b="1">
                <a:solidFill>
                  <a:srgbClr val="FFFFFF"/>
                </a:solidFill>
                <a:latin typeface="Montserrat"/>
              </a:rPr>
              <a:t> №7 · «</a:t>
            </a:r>
            <a:r>
              <a:rPr sz="1300" b="1">
                <a:solidFill>
                  <a:srgbClr val="FFFFFF"/>
                </a:solidFill>
                <a:latin typeface="Montserrat"/>
              </a:rPr>
              <a:t>Фалькон</a:t>
            </a:r>
            <a:r>
              <a:rPr sz="1300" b="1">
                <a:solidFill>
                  <a:srgbClr val="FFFFFF"/>
                </a:solidFill>
                <a:latin typeface="Montserrat"/>
              </a:rPr>
              <a:t> </a:t>
            </a:r>
            <a:r>
              <a:rPr sz="1300" b="1">
                <a:solidFill>
                  <a:srgbClr val="FFFFFF"/>
                </a:solidFill>
                <a:latin typeface="Montserrat"/>
              </a:rPr>
              <a:t>Тех</a:t>
            </a:r>
            <a:r>
              <a:rPr sz="1300" b="1">
                <a:solidFill>
                  <a:srgbClr val="FFFFFF"/>
                </a:solidFill>
                <a:latin typeface="Montserrat"/>
              </a:rPr>
              <a:t>» · ЛЦТ-2026</a:t>
            </a:r>
            <a:endParaRPr/>
          </a:p>
          <a:p>
            <a:pPr algn="l">
              <a:lnSpc>
                <a:spcPct val="112000"/>
              </a:lnSpc>
              <a:spcAft>
                <a:spcPts val="400"/>
              </a:spcAft>
              <a:defRPr/>
            </a:pPr>
            <a:r>
              <a:rPr sz="1150" b="0">
                <a:solidFill>
                  <a:srgbClr val="FFD6E4"/>
                </a:solidFill>
                <a:latin typeface="Montserrat"/>
              </a:rPr>
              <a:t>Команда</a:t>
            </a:r>
            <a:r>
              <a:rPr sz="1150" b="0">
                <a:solidFill>
                  <a:srgbClr val="FFD6E4"/>
                </a:solidFill>
                <a:latin typeface="Montserrat"/>
              </a:rPr>
              <a:t>: </a:t>
            </a:r>
            <a:r>
              <a:rPr lang="ru-RU" sz="1150" b="0">
                <a:solidFill>
                  <a:srgbClr val="FFD6E4"/>
                </a:solidFill>
                <a:latin typeface="Montserrat"/>
              </a:rPr>
              <a:t>Брянск - 1</a:t>
            </a:r>
            <a:endParaRPr sz="1150" b="0">
              <a:solidFill>
                <a:srgbClr val="FFD6E4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6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8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Порог отказа выбран по формуле балла постановщика; все улучшения доказаны парными замерами на 30 переразбиениях; 126 FPS при 770 МиБ весов; карта внимания показывает, что номер не используется.</a:t>
            </a:r>
            <a:endParaRPr/>
          </a:p>
        </p:txBody>
      </p:sp>
      <p:sp>
        <p:nvSpPr>
          <p:cNvPr id="14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Машавец Арсений</a:t>
            </a:r>
            <a:r>
              <a:rPr lang="ru-RU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</a:rPr>
              <a:t>Frontend </a:t>
            </a:r>
            <a:r>
              <a:rPr lang="ru-RU">
                <a:solidFill>
                  <a:schemeClr val="tx1"/>
                </a:solidFill>
              </a:rPr>
              <a:t>– разработчик, системный аналитик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5 человек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r>
              <a:rPr lang="ru-RU" b="1">
                <a:solidFill>
                  <a:schemeClr val="tx1"/>
                </a:solidFill>
              </a:rPr>
              <a:t>команда из студентов 3 курса ИЭИ факультета БГИТУ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Брянск, Брянская область</a:t>
            </a:r>
            <a:endParaRPr/>
          </a:p>
        </p:txBody>
      </p:sp>
      <p:sp>
        <p:nvSpPr>
          <p:cNvPr id="15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8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+mn-lt"/>
              </a:rPr>
              <a:t>БРЯНСК - 1</a:t>
            </a:r>
            <a:endParaRPr/>
          </a:p>
        </p:txBody>
      </p:sp>
      <p:cxnSp>
        <p:nvCxnSpPr>
          <p:cNvPr id="7" name="Прямая соединительная линия 6"/>
          <p:cNvCxnSpPr>
            <a:cxnSpLocks/>
          </p:cNvCxnSpPr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cxnSpLocks/>
          </p:cNvCxnSpPr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cxnSpLocks/>
          </p:cNvCxnSpPr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5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Сервис ReID находит тот же автомобиль на снимках других камер по внешности — без госномера. Две модели DINOv3-L + DINOv2-B, честный режим отказа, веб-интерфейс, запуск одной командой.</a:t>
            </a:r>
            <a:endParaRPr/>
          </a:p>
        </p:txBody>
      </p:sp>
      <p:sp>
        <p:nvSpPr>
          <p:cNvPr id="10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50" name="Фото команды" descr="Команда Брянск-1"/>
          <p:cNvPicPr>
            <a:picLocks noChangeAspect="1"/>
          </p:cNvPicPr>
          <p:nvPr/>
        </p:nvPicPr>
        <p:blipFill>
          <a:blip r:embed="rIdTeam"/>
          <a:stretch>
            <a:fillRect/>
          </a:stretch>
        </p:blipFill>
        <p:spPr>
          <a:xfrm>
            <a:off x="393192" y="347472"/>
            <a:ext cx="5696712" cy="2395728"/>
          </a:xfrm>
          <a:prstGeom prst="roundRect">
            <a:avLst>
              <a:gd name="adj" fmla="val 7000"/>
            </a:avLst>
          </a:prstGeom>
          <a:effectLst>
            <a:outerShdw blurRad="190500" dist="50800" dir="5400000" algn="t" rotWithShape="0">
              <a:srgbClr val="2B0F4C">
                <a:alpha val="22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/>
          <p:cNvSpPr/>
          <p:nvPr/>
        </p:nvSpPr>
        <p:spPr bwMode="auto">
          <a:xfrm>
            <a:off x="2621803" y="1518897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7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</a:rPr>
              <a:t>Frontend - </a:t>
            </a:r>
            <a:r>
              <a:rPr lang="ru-RU" sz="1200">
                <a:solidFill>
                  <a:schemeClr val="tx1"/>
                </a:solidFill>
              </a:rPr>
              <a:t>разработчик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599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Системный аналитик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Студент БГИТУ</a:t>
            </a:r>
            <a:endParaRPr/>
          </a:p>
        </p:txBody>
      </p:sp>
      <p:sp>
        <p:nvSpPr>
          <p:cNvPr id="58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Арсений</a:t>
            </a:r>
            <a:endParaRPr/>
          </a:p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Машавец</a:t>
            </a:r>
            <a:endParaRPr lang="ru-RU" sz="1600" b="1">
              <a:solidFill>
                <a:schemeClr val="accent5"/>
              </a:solidFill>
            </a:endParaRPr>
          </a:p>
        </p:txBody>
      </p:sp>
      <p:sp>
        <p:nvSpPr>
          <p:cNvPr id="59" name="Скругленный прямоугольник 58"/>
          <p:cNvSpPr/>
          <p:nvPr/>
        </p:nvSpPr>
        <p:spPr bwMode="auto">
          <a:xfrm>
            <a:off x="4974647" y="1518897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0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</a:rPr>
              <a:t>Frontend – </a:t>
            </a:r>
            <a:r>
              <a:rPr lang="ru-RU" sz="1200">
                <a:solidFill>
                  <a:schemeClr val="tx1"/>
                </a:solidFill>
              </a:rPr>
              <a:t>разработчик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Студент БГИТУ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61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Александра Ольшевская</a:t>
            </a:r>
            <a:endParaRPr/>
          </a:p>
        </p:txBody>
      </p:sp>
      <p:sp>
        <p:nvSpPr>
          <p:cNvPr id="62" name="Скругленный прямоугольник 61"/>
          <p:cNvSpPr/>
          <p:nvPr/>
        </p:nvSpPr>
        <p:spPr bwMode="auto">
          <a:xfrm>
            <a:off x="7339643" y="1518897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3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</a:rPr>
              <a:t>Backend - </a:t>
            </a:r>
            <a:r>
              <a:rPr lang="ru-RU" sz="1200">
                <a:solidFill>
                  <a:schemeClr val="tx1"/>
                </a:solidFill>
              </a:rPr>
              <a:t>разработчик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Студент БГИТУ</a:t>
            </a:r>
            <a:endParaRPr/>
          </a:p>
        </p:txBody>
      </p:sp>
      <p:sp>
        <p:nvSpPr>
          <p:cNvPr id="64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Иван Лапочкин</a:t>
            </a:r>
            <a:endParaRPr/>
          </a:p>
        </p:txBody>
      </p:sp>
      <p:sp>
        <p:nvSpPr>
          <p:cNvPr id="65" name="Скругленный прямоугольник 64"/>
          <p:cNvSpPr/>
          <p:nvPr/>
        </p:nvSpPr>
        <p:spPr bwMode="auto">
          <a:xfrm>
            <a:off x="9704639" y="1518897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</a:rPr>
              <a:t>Frontend – </a:t>
            </a:r>
            <a:r>
              <a:rPr lang="ru-RU" sz="1200">
                <a:solidFill>
                  <a:schemeClr val="tx1"/>
                </a:solidFill>
              </a:rPr>
              <a:t>разработчик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Студент БГИТУ</a:t>
            </a:r>
            <a:endParaRPr/>
          </a:p>
        </p:txBody>
      </p:sp>
      <p:sp>
        <p:nvSpPr>
          <p:cNvPr id="67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Егор Егоренков</a:t>
            </a:r>
            <a:endParaRPr/>
          </a:p>
        </p:txBody>
      </p:sp>
      <p:sp>
        <p:nvSpPr>
          <p:cNvPr id="17" name="Скругленный прямоугольник 16"/>
          <p:cNvSpPr/>
          <p:nvPr/>
        </p:nvSpPr>
        <p:spPr bwMode="auto">
          <a:xfrm>
            <a:off x="253446" y="1518897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327417575" name=""/>
          <p:cNvPicPr>
            <a:picLocks noChangeAspect="1"/>
          </p:cNvPicPr>
          <p:nvPr>
            <p:ph type="pic" sz="quarter" idx="4294967295"/>
          </p:nvPr>
        </p:nvPicPr>
        <p:blipFill>
          <a:blip r:embed="rId4"/>
          <a:stretch/>
        </p:blipFill>
        <p:spPr bwMode="auto">
          <a:xfrm rot="0">
            <a:off x="647631" y="1816053"/>
            <a:ext cx="1590095" cy="1552900"/>
          </a:xfrm>
          <a:prstGeom prst="rect">
            <a:avLst/>
          </a:prstGeom>
        </p:spPr>
      </p:pic>
      <p:pic>
        <p:nvPicPr>
          <p:cNvPr id="1255685058" name=""/>
          <p:cNvPicPr>
            <a:picLocks noChangeAspect="1"/>
          </p:cNvPicPr>
          <p:nvPr>
            <p:ph type="pic" sz="quarter" idx="4294967295"/>
          </p:nvPr>
        </p:nvPicPr>
        <p:blipFill>
          <a:blip r:embed="rId5"/>
          <a:stretch/>
        </p:blipFill>
        <p:spPr bwMode="auto">
          <a:xfrm rot="0">
            <a:off x="2886466" y="1849114"/>
            <a:ext cx="1722565" cy="1497280"/>
          </a:xfrm>
          <a:prstGeom prst="rect">
            <a:avLst/>
          </a:prstGeom>
        </p:spPr>
      </p:pic>
      <p:pic>
        <p:nvPicPr>
          <p:cNvPr id="105696279" name=""/>
          <p:cNvPicPr>
            <a:picLocks noChangeAspect="1"/>
          </p:cNvPicPr>
          <p:nvPr>
            <p:ph type="pic" sz="quarter" idx="4294967295"/>
          </p:nvPr>
        </p:nvPicPr>
        <p:blipFill>
          <a:blip r:embed="rId6"/>
          <a:stretch/>
        </p:blipFill>
        <p:spPr bwMode="auto">
          <a:xfrm rot="0">
            <a:off x="5335744" y="1809237"/>
            <a:ext cx="1434645" cy="1559716"/>
          </a:xfrm>
          <a:prstGeom prst="rect">
            <a:avLst/>
          </a:prstGeom>
        </p:spPr>
      </p:pic>
      <p:pic>
        <p:nvPicPr>
          <p:cNvPr id="459677548" name=""/>
          <p:cNvPicPr>
            <a:picLocks noChangeAspect="1"/>
          </p:cNvPicPr>
          <p:nvPr>
            <p:ph type="pic" sz="quarter" idx="4294967295"/>
          </p:nvPr>
        </p:nvPicPr>
        <p:blipFill>
          <a:blip r:embed="rId7"/>
          <a:stretch/>
        </p:blipFill>
        <p:spPr bwMode="auto">
          <a:xfrm rot="0">
            <a:off x="7799114" y="1809237"/>
            <a:ext cx="1273768" cy="1559716"/>
          </a:xfrm>
          <a:prstGeom prst="rect">
            <a:avLst/>
          </a:prstGeom>
        </p:spPr>
      </p:pic>
      <p:pic>
        <p:nvPicPr>
          <p:cNvPr id="508212781" name=""/>
          <p:cNvPicPr>
            <a:picLocks noChangeAspect="1"/>
          </p:cNvPicPr>
          <p:nvPr>
            <p:ph type="pic" sz="quarter" idx="4294967295"/>
          </p:nvPr>
        </p:nvPicPr>
        <p:blipFill>
          <a:blip r:embed="rId8"/>
          <a:stretch/>
        </p:blipFill>
        <p:spPr bwMode="auto">
          <a:xfrm rot="0">
            <a:off x="10015653" y="1809237"/>
            <a:ext cx="1296102" cy="1559716"/>
          </a:xfrm>
          <a:prstGeom prst="rect">
            <a:avLst/>
          </a:prstGeom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FFFF"/>
                </a:solidFill>
              </a:rPr>
              <a:t>КОМАНДА</a:t>
            </a:r>
            <a:endParaRPr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</a:rPr>
              <a:t>Fullstack</a:t>
            </a:r>
            <a:r>
              <a:rPr lang="en-US" sz="1200">
                <a:solidFill>
                  <a:schemeClr val="tx1"/>
                </a:solidFill>
              </a:rPr>
              <a:t> -</a:t>
            </a:r>
            <a:r>
              <a:rPr lang="ru-RU" sz="1200">
                <a:solidFill>
                  <a:schemeClr val="tx1"/>
                </a:solidFill>
              </a:rPr>
              <a:t> разработчик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5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Продакт-менеджер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Студент БГИТУ</a:t>
            </a:r>
            <a:endParaRPr/>
          </a:p>
        </p:txBody>
      </p:sp>
      <p:sp>
        <p:nvSpPr>
          <p:cNvPr id="15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Михаил Хромов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FFFF"/>
                </a:solidFill>
              </a:rPr>
              <a:t>ИСТОРИЯ КОМАНДЫ</a:t>
            </a:r>
            <a:endParaRPr/>
          </a:p>
        </p:txBody>
      </p:sp>
      <p:sp>
        <p:nvSpPr>
          <p:cNvPr id="37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Имеется опыт участия в различных хакатонах разного уровня.</a:t>
            </a:r>
            <a:endParaRPr/>
          </a:p>
        </p:txBody>
      </p:sp>
      <p:sp>
        <p:nvSpPr>
          <p:cNvPr id="38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40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Шум валидации ±0.011 mAP съедал приросты — перешли на парные замеры по 30 переразбиениям. Скорость упиралась в декодирование JPEG на одном ядре — пул потоков дал 66 → 126 FPS.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Самая точная модель (ViT-H+) оказалась медленной для стенда — выбрали пару DINOv3-L + ViT-B и дистиллировали в неё знания ViT-H+.</a:t>
            </a: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43" name="Текст 8"/>
          <p:cNvSpPr txBox="1"/>
          <p:nvPr/>
        </p:nvSpPr>
        <p:spPr bwMode="auto">
          <a:xfrm>
            <a:off x="533607" y="3429000"/>
            <a:ext cx="7315200" cy="1000000"/>
          </a:xfrm>
          <a:prstGeom prst="rect">
            <a:avLst/>
          </a:prstGeom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Мы выбрали эту задачу, потому что задача показалась интересной с точки зрения обучения ии. Плюс это задача open-set retrieval — модель должна обобщать на машины, которых никогда не видела. </a:t>
            </a:r>
            <a:endParaRPr/>
          </a:p>
        </p:txBody>
      </p:sp>
      <p:sp>
        <p:nvSpPr>
          <p:cNvPr id="44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5" name="Прямая соединительная линия 4"/>
          <p:cNvCxnSpPr>
            <a:cxnSpLocks/>
          </p:cNvCxnSpPr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>
            <a:cxnSpLocks/>
          </p:cNvCxnSpPr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>
            <a:cxnSpLocks/>
          </p:cNvCxnSpPr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2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Две модели: DINOv3 ViT-L/16 и DINOv2 ViT-B/14 с части-признаками; CosFace + triplet + память XBM, дистилляция от ViT-H+. Эмбеддинг 3072-d, поиск FAISS. FastAPI + PostgreSQL + React, Docker офлайн.</a:t>
            </a:r>
            <a:endParaRPr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Оператор находит машину по снимку за секунды вместо часов ручного просмотра архива. Честный отказ вместо ложных находок. Порог уверенности управляется без переобучения.</a:t>
            </a:r>
            <a:br>
              <a:rPr lang="ru-RU" sz="1400">
                <a:solidFill>
                  <a:schemeClr val="tx1"/>
                </a:solidFill>
              </a:rPr>
            </a:br>
            <a:endParaRPr lang="ru-RU" sz="140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1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17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8" name="TextBox 27"/>
          <p:cNvSpPr txBox="1"/>
          <p:nvPr/>
        </p:nvSpPr>
        <p:spPr bwMode="auto">
          <a:xfrm>
            <a:off x="658368" y="3291840"/>
            <a:ext cx="484632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defRPr/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mAP@10 0.859 · Rank-1 0.823 на незнакомых ТС</a:t>
            </a:r>
            <a:endParaRPr/>
          </a:p>
          <a:p>
            <a:pPr algn="l">
              <a:lnSpc>
                <a:spcPct val="112000"/>
              </a:lnSpc>
              <a:spcAft>
                <a:spcPts val="600"/>
              </a:spcAft>
              <a:defRPr/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2 модели, 770 МиБ весов из лимита 2 ГБ</a:t>
            </a:r>
            <a:endParaRPr/>
          </a:p>
          <a:p>
            <a:pPr algn="l">
              <a:lnSpc>
                <a:spcPct val="112000"/>
              </a:lnSpc>
              <a:spcAft>
                <a:spcPts val="600"/>
              </a:spcAft>
              <a:defRPr/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17 мс на ТС и 126 FPS по протоколу стенда</a:t>
            </a:r>
            <a:endParaRPr/>
          </a:p>
          <a:p>
            <a:pPr algn="l">
              <a:lnSpc>
                <a:spcPct val="112000"/>
              </a:lnSpc>
              <a:spcAft>
                <a:spcPts val="600"/>
              </a:spcAft>
              <a:defRPr/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Запуск одной командой: docker compose up, офлайн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6537960" y="3291840"/>
            <a:ext cx="484632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defRPr/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Режим отказа: τ = 0.455 по формуле балла 0.7·F1 + 0.3·TNR</a:t>
            </a:r>
            <a:endParaRPr/>
          </a:p>
          <a:p>
            <a:pPr algn="l">
              <a:lnSpc>
                <a:spcPct val="112000"/>
              </a:lnSpc>
              <a:spcAft>
                <a:spcPts val="600"/>
              </a:spcAft>
              <a:defRPr/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Карта внимания: номер модель не использует</a:t>
            </a:r>
            <a:endParaRPr/>
          </a:p>
          <a:p>
            <a:pPr algn="l">
              <a:lnSpc>
                <a:spcPct val="112000"/>
              </a:lnSpc>
              <a:spcAft>
                <a:spcPts val="600"/>
              </a:spcAft>
              <a:defRPr/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Отсев кадров-дублей той же сцены по фону кадра</a:t>
            </a:r>
            <a:endParaRPr/>
          </a:p>
          <a:p>
            <a:pPr algn="l">
              <a:lnSpc>
                <a:spcPct val="112000"/>
              </a:lnSpc>
              <a:spcAft>
                <a:spcPts val="600"/>
              </a:spcAft>
              <a:defRPr/>
            </a:pPr>
            <a:r>
              <a:rPr sz="1200" b="0">
                <a:solidFill>
                  <a:srgbClr val="2A1A3A"/>
                </a:solidFill>
                <a:latin typeface="Montserrat"/>
              </a:rPr>
              <a:t>▪  Готов к 10⁶ галерее: FAISS HNSW 1.1 мс/запрос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FFFFFF"/>
                </a:solidFill>
              </a:rPr>
              <a:t>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7472" y="320040"/>
            <a:ext cx="2212848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ПРОБЛЕМА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5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Номер не читается — город теряет машину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965960"/>
            <a:ext cx="2567178" cy="2377440"/>
          </a:xfrm>
          <a:prstGeom prst="roundRect">
            <a:avLst>
              <a:gd name="adj" fmla="val 6153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22959" y="2258568"/>
            <a:ext cx="658368" cy="65836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nowflake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2416576"/>
            <a:ext cx="342351" cy="34235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59" y="2990088"/>
            <a:ext cx="2109978" cy="56692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185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Грязь и снег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611880"/>
            <a:ext cx="215569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D9CFFA"/>
                </a:solidFill>
                <a:latin typeface="Montserrat"/>
              </a:rPr>
              <a:t>Регистрационный знак нечитаем в плохую погоду — ALPR бессилен.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0138" y="1965960"/>
            <a:ext cx="2567178" cy="2377440"/>
          </a:xfrm>
          <a:prstGeom prst="roundRect">
            <a:avLst>
              <a:gd name="adj" fmla="val 6153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664458" y="2258568"/>
            <a:ext cx="658368" cy="65836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un-moo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466" y="2416576"/>
            <a:ext cx="342351" cy="34235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64458" y="2990088"/>
            <a:ext cx="2109978" cy="56692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185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Блики и ночь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64458" y="3611880"/>
            <a:ext cx="215569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D9CFFA"/>
                </a:solidFill>
                <a:latin typeface="Montserrat"/>
              </a:rPr>
              <a:t>Свет фар и солнца засвечивает знак; ночью деталей мало.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1965960"/>
            <a:ext cx="2567178" cy="2377440"/>
          </a:xfrm>
          <a:prstGeom prst="roundRect">
            <a:avLst>
              <a:gd name="adj" fmla="val 6153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505955" y="2258568"/>
            <a:ext cx="658368" cy="65836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eye-off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964" y="2416576"/>
            <a:ext cx="342351" cy="34235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05955" y="2990088"/>
            <a:ext cx="2109978" cy="56692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185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Перекрытие и ракурс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955" y="3611880"/>
            <a:ext cx="215569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D9CFFA"/>
                </a:solidFill>
                <a:latin typeface="Montserrat"/>
              </a:rPr>
              <a:t>Знак закрыт другим авто или вовсе не в поле зрения камеры.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73134" y="1965960"/>
            <a:ext cx="2567178" cy="2377440"/>
          </a:xfrm>
          <a:prstGeom prst="roundRect">
            <a:avLst>
              <a:gd name="adj" fmla="val 6153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347454" y="2258568"/>
            <a:ext cx="658368" cy="65836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lock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5462" y="2416576"/>
            <a:ext cx="342351" cy="34235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47454" y="2990088"/>
            <a:ext cx="2109978" cy="56692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185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Ручной поиск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7454" y="3611880"/>
            <a:ext cx="215569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D9CFFA"/>
                </a:solidFill>
                <a:latin typeface="Montserrat"/>
              </a:rPr>
              <a:t>Оператор листает архив сотни часов — и часто безрезультатно.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572000"/>
            <a:ext cx="11091672" cy="1664208"/>
          </a:xfrm>
          <a:prstGeom prst="roundRect">
            <a:avLst>
              <a:gd name="adj" fmla="val 10989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914400" y="50292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ingerprint-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5212080"/>
            <a:ext cx="457200" cy="4572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057400" y="4773168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500"/>
              </a:spcAft>
            </a:pPr>
            <a:r>
              <a:rPr sz="1100" b="1">
                <a:solidFill>
                  <a:srgbClr val="FFD6E4"/>
                </a:solidFill>
                <a:latin typeface="Montserrat"/>
              </a:rPr>
              <a:t>РЕШЕНИЕ</a:t>
            </a:r>
          </a:p>
          <a:p>
            <a:pPr algn="l">
              <a:lnSpc>
                <a:spcPts val="22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Устойчивый цифровой признак по внешности — цвет, геометрия, оптика, наклейки, повреждения.</a:t>
            </a:r>
          </a:p>
          <a:p>
            <a:pPr algn="l">
              <a:lnSpc>
                <a:spcPts val="1650"/>
              </a:lnSpc>
              <a:spcAft>
                <a:spcPts val="500"/>
              </a:spcAft>
            </a:pPr>
            <a:r>
              <a:rPr sz="1200" b="0">
                <a:solidFill>
                  <a:srgbClr val="FFE7EF"/>
                </a:solidFill>
                <a:latin typeface="Montserrat"/>
              </a:rPr>
              <a:t>Снимки одного ТС с разных камер сходятся в векторном пространстве — без какой-либо привязки к номеру.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2B0F4C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7472" y="320040"/>
            <a:ext cx="3255264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ПУТЬ ОПЕРАТОРА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50"/>
              </a:lnSpc>
              <a:spcAft>
                <a:spcPts val="0"/>
              </a:spcAft>
            </a:pPr>
            <a:r>
              <a:rPr sz="2400" b="1">
                <a:solidFill>
                  <a:srgbClr val="2B0F4C"/>
                </a:solidFill>
                <a:latin typeface="Montserrat"/>
              </a:rPr>
              <a:t>От кадра до ответа — пять шагов, номер не нужен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66367" y="2491740"/>
            <a:ext cx="9056217" cy="0"/>
          </a:xfrm>
          <a:prstGeom prst="line">
            <a:avLst/>
          </a:prstGeom>
          <a:ln w="317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58875" y="1984248"/>
            <a:ext cx="1014983" cy="101498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A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2027" y="2057400"/>
            <a:ext cx="868680" cy="86868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ploa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0510" y="2265883"/>
            <a:ext cx="451713" cy="451713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48640" y="3246120"/>
            <a:ext cx="2035454" cy="2971800"/>
          </a:xfrm>
          <a:prstGeom prst="roundRect">
            <a:avLst>
              <a:gd name="adj" fmla="val 6289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3456432"/>
            <a:ext cx="157825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59352"/>
            <a:ext cx="15782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2B0F4C"/>
                </a:solidFill>
                <a:latin typeface="Montserrat"/>
              </a:rPr>
              <a:t>Загрузка кадра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26280"/>
            <a:ext cx="157825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5B4E6E"/>
                </a:solidFill>
                <a:latin typeface="Montserrat"/>
              </a:rPr>
              <a:t>Фото или кадр из видео — в браузере или по API. Область автомобиля выделяется рамкой.</a:t>
            </a:r>
          </a:p>
        </p:txBody>
      </p:sp>
      <p:sp>
        <p:nvSpPr>
          <p:cNvPr id="24" name="Oval 23"/>
          <p:cNvSpPr/>
          <p:nvPr/>
        </p:nvSpPr>
        <p:spPr>
          <a:xfrm>
            <a:off x="3322929" y="1984248"/>
            <a:ext cx="1014983" cy="101498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A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96081" y="2057400"/>
            <a:ext cx="868680" cy="86868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ngerprint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4564" y="2265883"/>
            <a:ext cx="451713" cy="451713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2812694" y="3246120"/>
            <a:ext cx="2035454" cy="2971800"/>
          </a:xfrm>
          <a:prstGeom prst="roundRect">
            <a:avLst>
              <a:gd name="adj" fmla="val 6289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041294" y="3456432"/>
            <a:ext cx="157825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1294" y="3959352"/>
            <a:ext cx="15782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2B0F4C"/>
                </a:solidFill>
                <a:latin typeface="Montserrat"/>
              </a:rPr>
              <a:t>Цифровой признак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1294" y="4526280"/>
            <a:ext cx="157825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5B4E6E"/>
                </a:solidFill>
                <a:latin typeface="Montserrat"/>
              </a:rPr>
              <a:t>Две модели формируют вектор 3072-d за 17 мс. Только внешность — номер не используется.</a:t>
            </a:r>
          </a:p>
        </p:txBody>
      </p:sp>
      <p:sp>
        <p:nvSpPr>
          <p:cNvPr id="31" name="Oval 30"/>
          <p:cNvSpPr/>
          <p:nvPr/>
        </p:nvSpPr>
        <p:spPr>
          <a:xfrm>
            <a:off x="5586983" y="1984248"/>
            <a:ext cx="1014983" cy="101498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A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60136" y="2057400"/>
            <a:ext cx="868680" cy="86868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earch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8619" y="2265883"/>
            <a:ext cx="451713" cy="451713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076748" y="3246120"/>
            <a:ext cx="2035454" cy="2971800"/>
          </a:xfrm>
          <a:prstGeom prst="roundRect">
            <a:avLst>
              <a:gd name="adj" fmla="val 6289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305348" y="3456432"/>
            <a:ext cx="157825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5348" y="3959352"/>
            <a:ext cx="15782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2B0F4C"/>
                </a:solidFill>
                <a:latin typeface="Montserrat"/>
              </a:rPr>
              <a:t>Поиск по галерее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5348" y="4526280"/>
            <a:ext cx="157825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5B4E6E"/>
                </a:solidFill>
                <a:latin typeface="Montserrat"/>
              </a:rPr>
              <a:t>Косинусная близость ко всему архиву. До 10⁶ снимков — FAISS HNSW за миллисекунды.</a:t>
            </a:r>
          </a:p>
        </p:txBody>
      </p:sp>
      <p:sp>
        <p:nvSpPr>
          <p:cNvPr id="38" name="Oval 37"/>
          <p:cNvSpPr/>
          <p:nvPr/>
        </p:nvSpPr>
        <p:spPr>
          <a:xfrm>
            <a:off x="7851038" y="1984248"/>
            <a:ext cx="1014983" cy="101498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A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24190" y="2057400"/>
            <a:ext cx="868680" cy="86868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ist-checks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2673" y="2265883"/>
            <a:ext cx="451713" cy="451713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7340803" y="3246120"/>
            <a:ext cx="2035454" cy="2971800"/>
          </a:xfrm>
          <a:prstGeom prst="roundRect">
            <a:avLst>
              <a:gd name="adj" fmla="val 6289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569403" y="3456432"/>
            <a:ext cx="157825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9403" y="3959352"/>
            <a:ext cx="15782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2B0F4C"/>
                </a:solidFill>
                <a:latin typeface="Montserrat"/>
              </a:rPr>
              <a:t>Решение сервиса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9403" y="4526280"/>
            <a:ext cx="157825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5B4E6E"/>
                </a:solidFill>
                <a:latin typeface="Montserrat"/>
              </a:rPr>
              <a:t>Топ-N кандидатов с уверенностью либо честный отказ, если совпадения нет.</a:t>
            </a:r>
          </a:p>
        </p:txBody>
      </p:sp>
      <p:sp>
        <p:nvSpPr>
          <p:cNvPr id="45" name="Oval 44"/>
          <p:cNvSpPr/>
          <p:nvPr/>
        </p:nvSpPr>
        <p:spPr>
          <a:xfrm>
            <a:off x="10115092" y="1984248"/>
            <a:ext cx="1014983" cy="101498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AD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88244" y="2057400"/>
            <a:ext cx="868680" cy="86868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ayers-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6728" y="2265883"/>
            <a:ext cx="451713" cy="451713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9604857" y="3246120"/>
            <a:ext cx="2035454" cy="2971800"/>
          </a:xfrm>
          <a:prstGeom prst="roundRect">
            <a:avLst>
              <a:gd name="adj" fmla="val 6289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833457" y="3456432"/>
            <a:ext cx="157825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33457" y="3959352"/>
            <a:ext cx="15782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2B0F4C"/>
                </a:solidFill>
                <a:latin typeface="Montserrat"/>
              </a:rPr>
              <a:t>Работа с результатом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33457" y="4526280"/>
            <a:ext cx="157825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5B4E6E"/>
                </a:solidFill>
                <a:latin typeface="Montserrat"/>
              </a:rPr>
              <a:t>Карта внимания «почему совпало», экспорт JSON, досье объекта и треки по камерам.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FFFFFF"/>
                </a:solidFill>
              </a:rPr>
              <a:t>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7472" y="320040"/>
            <a:ext cx="3429000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КАК РАБОТАЕТ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ontserrat"/>
              </a:rPr>
              <a:t>Два поколения DINO, обученные сближать виды одного автомобиля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504103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5041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Кадр + BBox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16751" y="2203704"/>
            <a:ext cx="256032" cy="0"/>
          </a:xfrm>
          <a:prstGeom prst="line">
            <a:avLst/>
          </a:prstGeom>
          <a:ln w="19050">
            <a:solidFill>
              <a:srgbClr val="D9CF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36791" y="1965960"/>
            <a:ext cx="1238673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436791" y="1965960"/>
            <a:ext cx="123867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Кроп +6%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39472" y="2203704"/>
            <a:ext cx="256032" cy="0"/>
          </a:xfrm>
          <a:prstGeom prst="line">
            <a:avLst/>
          </a:prstGeom>
          <a:ln w="19050">
            <a:solidFill>
              <a:srgbClr val="D9CF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59512" y="1965960"/>
            <a:ext cx="3273636" cy="475488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059512" y="1965960"/>
            <a:ext cx="32736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DINOv3-L ×1.0  +  DINOv2-B ×0.7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97157" y="2203704"/>
            <a:ext cx="256032" cy="0"/>
          </a:xfrm>
          <a:prstGeom prst="line">
            <a:avLst/>
          </a:prstGeom>
          <a:ln w="19050">
            <a:solidFill>
              <a:srgbClr val="D9CF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17197" y="1965960"/>
            <a:ext cx="1681056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17197" y="1965960"/>
            <a:ext cx="168105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Вектор 3072-d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62262" y="2203704"/>
            <a:ext cx="256032" cy="0"/>
          </a:xfrm>
          <a:prstGeom prst="line">
            <a:avLst/>
          </a:prstGeom>
          <a:ln w="19050">
            <a:solidFill>
              <a:srgbClr val="D9CF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82302" y="1965960"/>
            <a:ext cx="185801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2302" y="1965960"/>
            <a:ext cx="185801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DBA k=2 → FAISS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743200"/>
            <a:ext cx="3514344" cy="3520440"/>
          </a:xfrm>
          <a:prstGeom prst="roundRect">
            <a:avLst>
              <a:gd name="adj" fmla="val 4163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22959" y="3017520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rain-circuit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2" y="3153582"/>
            <a:ext cx="294802" cy="2948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36192" y="3072384"/>
            <a:ext cx="2325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1">
                <a:solidFill>
                  <a:srgbClr val="D9CFFA"/>
                </a:solidFill>
                <a:latin typeface="Montserrat"/>
              </a:rPr>
              <a:t>ПРИЗНАК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291840"/>
            <a:ext cx="23713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Два поколения DINO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041648"/>
            <a:ext cx="2965704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sz="1100" b="0">
                <a:solidFill>
                  <a:srgbClr val="EFE9FF"/>
                </a:solidFill>
                <a:latin typeface="Montserrat"/>
              </a:rPr>
              <a:t>DINOv3 ViT-L/16 (вес 1.0) + DINOv2 ViT-B/14 (0.7): разные корпуса предобучения — ошибки декоррелированы.</a:t>
            </a:r>
          </a:p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sz="1100" b="0">
                <a:solidFill>
                  <a:srgbClr val="EFE9FF"/>
                </a:solidFill>
                <a:latin typeface="Montserrat"/>
              </a:rPr>
              <a:t>Части-признаки: 3 полосы кузова со своим эмбеддингом; 1536 + 1536 = 3072-d, DBA k=2 по галерее.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59" y="5641848"/>
            <a:ext cx="296570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59" y="5641848"/>
            <a:ext cx="29657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3072-d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7304" y="2743200"/>
            <a:ext cx="3514344" cy="3520440"/>
          </a:xfrm>
          <a:prstGeom prst="roundRect">
            <a:avLst>
              <a:gd name="adj" fmla="val 4163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611624" y="3017520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arget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686" y="3153582"/>
            <a:ext cx="294802" cy="29480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24856" y="3072384"/>
            <a:ext cx="2325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1">
                <a:solidFill>
                  <a:srgbClr val="D9CFFA"/>
                </a:solidFill>
                <a:latin typeface="Montserrat"/>
              </a:rPr>
              <a:t>ОБУЧЕНИЕ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4856" y="3291840"/>
            <a:ext cx="23713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CosFace + triplet + XBM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1624" y="4041648"/>
            <a:ext cx="2965704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sz="1100" b="0">
                <a:solidFill>
                  <a:srgbClr val="EFE9FF"/>
                </a:solidFill>
                <a:latin typeface="Montserrat"/>
              </a:rPr>
              <a:t>Угловой отступ (s=48, m=0.25) + batch-hard triplet; память 4096 признаков (XBM) даёт трудные негативы.</a:t>
            </a:r>
          </a:p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sz="1100" b="0">
                <a:solidFill>
                  <a:srgbClr val="EFE9FF"/>
                </a:solidFill>
                <a:latin typeface="Montserrat"/>
              </a:rPr>
              <a:t>Дистилляция точного ViT-H+ (841M) в быструю DINOv3-L; PK-батчи 16×4.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1624" y="5641848"/>
            <a:ext cx="296570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611624" y="5641848"/>
            <a:ext cx="29657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XBM: +0.008 mAP@10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5968" y="2743200"/>
            <a:ext cx="3514344" cy="3520440"/>
          </a:xfrm>
          <a:prstGeom prst="roundRect">
            <a:avLst>
              <a:gd name="adj" fmla="val 4163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8400288" y="3017520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rotate-3d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350" y="3153582"/>
            <a:ext cx="294802" cy="29480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13520" y="3072384"/>
            <a:ext cx="2325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1">
                <a:solidFill>
                  <a:srgbClr val="D9CFFA"/>
                </a:solidFill>
                <a:latin typeface="Montserrat"/>
              </a:rPr>
              <a:t>ИНВАРИАНТНОСТЬ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13520" y="3291840"/>
            <a:ext cx="23713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Ракурс, свет, перекрытия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0288" y="4041648"/>
            <a:ext cx="2965704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sz="1100" b="0">
                <a:solidFill>
                  <a:srgbClr val="EFE9FF"/>
                </a:solidFill>
                <a:latin typeface="Montserrat"/>
              </a:rPr>
              <a:t>Pad + RandomCrop, отражение, color jitter, blur, random erasing — имитация перекрытий.</a:t>
            </a:r>
          </a:p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sz="1100" b="0">
                <a:solidFill>
                  <a:srgbClr val="EFE9FF"/>
                </a:solidFill>
                <a:latin typeface="Montserrat"/>
              </a:rPr>
              <a:t>Каждый train-ТС снят с 2+ камер: модель учится сближать виды спереди, сбоку и сзади.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00288" y="5641848"/>
            <a:ext cx="296570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400288" y="5641848"/>
            <a:ext cx="29657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Pad + Crop: +0.030 mAP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2B0F4C"/>
                </a:solidFill>
              </a:rPr>
              <a:t>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7472" y="320040"/>
            <a:ext cx="2734056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АРХИТЕКТУРА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</a:pPr>
            <a:r>
              <a:rPr sz="2100" b="1">
                <a:solidFill>
                  <a:srgbClr val="2B0F4C"/>
                </a:solidFill>
                <a:latin typeface="Montserrat"/>
              </a:rPr>
              <a:t>Поток запроса и микросервисы — запуск одной командой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920240"/>
            <a:ext cx="46634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2194560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50"/>
              </a:lnSpc>
              <a:spcAft>
                <a:spcPts val="0"/>
              </a:spcAft>
            </a:pPr>
            <a:r>
              <a:rPr sz="1500" b="1">
                <a:solidFill>
                  <a:srgbClr val="2B0F4C"/>
                </a:solidFill>
                <a:latin typeface="Montserrat"/>
              </a:rPr>
              <a:t>Поток обработки запроса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017520"/>
            <a:ext cx="0" cy="2551176"/>
          </a:xfrm>
          <a:prstGeom prst="line">
            <a:avLst/>
          </a:prstGeom>
          <a:ln w="31750">
            <a:solidFill>
              <a:srgbClr val="EAD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68680" y="2788920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2788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779776"/>
            <a:ext cx="3428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Получение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054096"/>
            <a:ext cx="34289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изображение + BBox через API/UI, валидация входа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3639312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36393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630168"/>
            <a:ext cx="3428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Обработка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904487"/>
            <a:ext cx="34289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кроп +6% → DINOv3-L + DINOv2-B (части-признаки, CUDA-графы) → 3072-d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489704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44897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480560"/>
            <a:ext cx="3428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Анализ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754880"/>
            <a:ext cx="34289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DBA k=2 по галерее → косинусный поиск FAISS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5340096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8680" y="5340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330952"/>
            <a:ext cx="3428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Результат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605272"/>
            <a:ext cx="34289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топ-N с уверенностью или отказ при max sim &lt; 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399" y="1920240"/>
            <a:ext cx="6153912" cy="758952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687567" y="2061972"/>
            <a:ext cx="475488" cy="475488"/>
          </a:xfrm>
          <a:prstGeom prst="ellipse">
            <a:avLst/>
          </a:prstGeom>
          <a:solidFill>
            <a:srgbClr val="F1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onitor-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685" y="2176089"/>
            <a:ext cx="247253" cy="24725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55079" y="2048256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Тонкий клиент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79" y="2304288"/>
            <a:ext cx="51023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sz="1000" b="0">
                <a:solidFill>
                  <a:srgbClr val="5B4E6E"/>
                </a:solidFill>
                <a:latin typeface="Montserrat"/>
              </a:rPr>
              <a:t>React + nginx: кадр из видео, кадрирование, порог на лету, экспорт JSON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399" y="2816352"/>
            <a:ext cx="6153912" cy="758952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5687567" y="2958084"/>
            <a:ext cx="475488" cy="475488"/>
          </a:xfrm>
          <a:prstGeom prst="ellipse">
            <a:avLst/>
          </a:prstGeom>
          <a:solidFill>
            <a:srgbClr val="F1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erver-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685" y="3072201"/>
            <a:ext cx="247253" cy="24725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355079" y="2944368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Backend инференса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79" y="3200400"/>
            <a:ext cx="51023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sz="1000" b="0">
                <a:solidFill>
                  <a:srgbClr val="5B4E6E"/>
                </a:solidFill>
                <a:latin typeface="Montserrat"/>
              </a:rPr>
              <a:t>Python · FastAPI · OpenAPI (Swagger) · JWT и API-ключи · GPU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399" y="3712464"/>
            <a:ext cx="6153912" cy="758952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687567" y="3854196"/>
            <a:ext cx="475488" cy="475488"/>
          </a:xfrm>
          <a:prstGeom prst="ellipse">
            <a:avLst/>
          </a:prstGeom>
          <a:solidFill>
            <a:srgbClr val="F1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database-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685" y="3968313"/>
            <a:ext cx="247253" cy="24725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55079" y="3840480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Хранилища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79" y="4096512"/>
            <a:ext cx="51023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sz="1000" b="0">
                <a:solidFill>
                  <a:srgbClr val="5B4E6E"/>
                </a:solidFill>
                <a:latin typeface="Montserrat"/>
              </a:rPr>
              <a:t>FAISS-индекс галереи · PostgreSQL: пользователи, история, watchlist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399" y="4608576"/>
            <a:ext cx="6153912" cy="758952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5687567" y="4750308"/>
            <a:ext cx="475488" cy="475488"/>
          </a:xfrm>
          <a:prstGeom prst="ellipse">
            <a:avLst/>
          </a:prstGeom>
          <a:solidFill>
            <a:srgbClr val="F1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boxes-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1685" y="4864425"/>
            <a:ext cx="247253" cy="24725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355079" y="4736592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Контейнеризация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79" y="4992624"/>
            <a:ext cx="51023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sz="1000" b="0">
                <a:solidFill>
                  <a:srgbClr val="5B4E6E"/>
                </a:solidFill>
                <a:latin typeface="Montserrat"/>
              </a:rPr>
              <a:t>docker compose: postgres + backend + frontend; веса по sha256, офлайн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399" y="5504688"/>
            <a:ext cx="6153912" cy="758952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5687567" y="5646420"/>
            <a:ext cx="475488" cy="475488"/>
          </a:xfrm>
          <a:prstGeom prst="ellipse">
            <a:avLst/>
          </a:prstGeom>
          <a:solidFill>
            <a:srgbClr val="F1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eye-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1685" y="5760537"/>
            <a:ext cx="247253" cy="24725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355079" y="5632703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Интерпретируемость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79" y="5888736"/>
            <a:ext cx="51023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sz="1000" b="0">
                <a:solidFill>
                  <a:srgbClr val="5B4E6E"/>
                </a:solidFill>
                <a:latin typeface="Montserrat"/>
              </a:rPr>
              <a:t>attention-карты: куда смотрела модель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FFFFFF"/>
                </a:solidFill>
              </a:rPr>
              <a:t>10</a:t>
            </a:fld>
            <a:endParaRPr lang="ru-RU"/>
          </a:p>
        </p:txBody>
      </p:sp>
      <p:sp>
        <p:nvSpPr>
          <p:cNvPr id="10" name="Rounded Rectangle 9"/>
          <p:cNvSpPr/>
          <p:nvPr/>
        </p:nvSpPr>
        <p:spPr>
          <a:xfrm>
            <a:off x="347472" y="320040"/>
            <a:ext cx="3602736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МЕТРИКИ КАЧЕСТВА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ontserrat"/>
              </a:rPr>
              <a:t>mAP@10 = 0.859 на автомобилях, которых модель не видела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19"/>
            <a:ext cx="5989320" cy="4389120"/>
          </a:xfrm>
          <a:prstGeom prst="roundRect">
            <a:avLst>
              <a:gd name="adj" fmla="val 3333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31520" y="2057400"/>
          <a:ext cx="5623560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22959" y="5394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mAP@10 по версиям: одинаковый протокол, 30 сидов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68756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sz="1000" b="0">
                <a:solidFill>
                  <a:srgbClr val="D9CFFA"/>
                </a:solidFill>
                <a:latin typeface="Montserrat"/>
              </a:rPr>
              <a:t>Валидация: 308 незнакомых ТС · 20% запросов без пары · совпадения «та же камера» исключены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79" y="1874519"/>
            <a:ext cx="4828032" cy="2148840"/>
          </a:xfrm>
          <a:prstGeom prst="roundRect">
            <a:avLst>
              <a:gd name="adj" fmla="val 851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78040" y="2103120"/>
            <a:ext cx="4096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1">
                <a:solidFill>
                  <a:srgbClr val="FFD6E4"/>
                </a:solidFill>
                <a:latin typeface="Montserrat"/>
              </a:rPr>
              <a:t>mAP@10 · ОСНОВНАЯ МЕТРИКА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86000"/>
            <a:ext cx="409651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50"/>
              </a:lnSpc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Montserrat"/>
              </a:rPr>
              <a:t>0.859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401568"/>
            <a:ext cx="4096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FFE7EF"/>
                </a:solidFill>
                <a:latin typeface="Montserrat"/>
              </a:rPr>
              <a:t>официальная метрика, 30 переразбиений · было 0.827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79" y="4206240"/>
            <a:ext cx="2641152" cy="2057400"/>
          </a:xfrm>
          <a:prstGeom prst="roundRect">
            <a:avLst>
              <a:gd name="adj" fmla="val 7111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86599" y="4434840"/>
            <a:ext cx="2183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sz="1000" b="1">
                <a:solidFill>
                  <a:srgbClr val="D9CFFA"/>
                </a:solidFill>
                <a:latin typeface="Montserrat"/>
              </a:rPr>
              <a:t>RANK-1 / RANK-5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599" y="4736592"/>
            <a:ext cx="23211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0.823</a:t>
            </a:r>
            <a:r>
              <a:rPr sz="1600" b="1">
                <a:solidFill>
                  <a:srgbClr val="D9CFFA"/>
                </a:solidFill>
                <a:latin typeface="Montserrat"/>
              </a:rPr>
              <a:t> / 0.917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599" y="5532120"/>
            <a:ext cx="21839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верный кандидат первым / в пятёрке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7752" y="4206240"/>
            <a:ext cx="1912559" cy="2057400"/>
          </a:xfrm>
          <a:prstGeom prst="roundRect">
            <a:avLst>
              <a:gd name="adj" fmla="val 7649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02072" y="4434840"/>
            <a:ext cx="1455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</a:pPr>
            <a:r>
              <a:rPr sz="1000" b="1">
                <a:solidFill>
                  <a:srgbClr val="D9CFFA"/>
                </a:solidFill>
                <a:latin typeface="Montserrat"/>
              </a:rPr>
              <a:t>БАЛЛ ОТКАЗА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2072" y="4736592"/>
            <a:ext cx="159251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0.722</a:t>
            </a:r>
            <a:r>
              <a:rPr sz="1600" b="1">
                <a:solidFill>
                  <a:srgbClr val="D9CFFA"/>
                </a:solidFill>
                <a:latin typeface="Montserrat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2072" y="5532120"/>
            <a:ext cx="145535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0.7·F1 + 0.3·TNR при τ = 0.455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2B0F4C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7472" y="320040"/>
            <a:ext cx="2907792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РЕЖИМ ОТКАЗА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</a:pPr>
            <a:r>
              <a:rPr sz="2100" b="1">
                <a:solidFill>
                  <a:srgbClr val="2B0F4C"/>
                </a:solidFill>
                <a:latin typeface="Montserrat"/>
              </a:rPr>
              <a:t>τ = 0.455 — максимум балла постановщика 0.7·F1 + 0.3·TNR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874519"/>
            <a:ext cx="6126480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68680" y="2130552"/>
            <a:ext cx="146304" cy="14630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05740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1">
                <a:solidFill>
                  <a:srgbClr val="2B0F4C"/>
                </a:solidFill>
                <a:latin typeface="Montserrat"/>
              </a:rPr>
              <a:t>Максимум балла 0.722 </a:t>
            </a:r>
            <a:r>
              <a:rPr sz="1050" b="0">
                <a:solidFill>
                  <a:srgbClr val="5B4E6E"/>
                </a:solidFill>
                <a:latin typeface="Montserrat"/>
              </a:rPr>
              <a:t>при τ = 0.455 · отложенная валидация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85800" y="2423160"/>
          <a:ext cx="5852160" cy="3749039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Oval 17"/>
          <p:cNvSpPr/>
          <p:nvPr/>
        </p:nvSpPr>
        <p:spPr>
          <a:xfrm>
            <a:off x="6949440" y="1892807"/>
            <a:ext cx="475488" cy="475488"/>
          </a:xfrm>
          <a:prstGeom prst="ellipse">
            <a:avLst/>
          </a:prstGeom>
          <a:solidFill>
            <a:srgbClr val="FF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auge-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557" y="2006925"/>
            <a:ext cx="247253" cy="2472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07808" y="1874519"/>
            <a:ext cx="4032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Порог τ = 0.455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176272"/>
            <a:ext cx="40325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максимум балла 0.7·F1 + 0.3·TNR (формула постановщика); отбор на сидах 42–61, проверка на 82–111</a:t>
            </a:r>
          </a:p>
        </p:txBody>
      </p:sp>
      <p:sp>
        <p:nvSpPr>
          <p:cNvPr id="22" name="Oval 21"/>
          <p:cNvSpPr/>
          <p:nvPr/>
        </p:nvSpPr>
        <p:spPr>
          <a:xfrm>
            <a:off x="6949440" y="2944368"/>
            <a:ext cx="475488" cy="475488"/>
          </a:xfrm>
          <a:prstGeom prst="ellipse">
            <a:avLst/>
          </a:prstGeom>
          <a:solidFill>
            <a:srgbClr val="FF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rget-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3557" y="3058485"/>
            <a:ext cx="247253" cy="24725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07808" y="2926080"/>
            <a:ext cx="4032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F1 = 0.731 · TNR = 0.701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3227832"/>
            <a:ext cx="40325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балл 0.722; прежний τ = 0.318 давал TNR 0.44 — сервис отвечал слишком охотно</a:t>
            </a:r>
          </a:p>
        </p:txBody>
      </p:sp>
      <p:sp>
        <p:nvSpPr>
          <p:cNvPr id="26" name="Oval 25"/>
          <p:cNvSpPr/>
          <p:nvPr/>
        </p:nvSpPr>
        <p:spPr>
          <a:xfrm>
            <a:off x="6949440" y="3950208"/>
            <a:ext cx="475488" cy="475488"/>
          </a:xfrm>
          <a:prstGeom prst="ellipse">
            <a:avLst/>
          </a:prstGeom>
          <a:solidFill>
            <a:srgbClr val="FF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py-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557" y="4064325"/>
            <a:ext cx="247253" cy="24725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607808" y="3931920"/>
            <a:ext cx="4032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Ловушка теста: дубли той же сцены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4233672"/>
            <a:ext cx="403250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72% запросов имеют top-1 — кадр-дубль той же камеры. Правило по фону кадра и геометрии BBox отсеивает дубли (precision 0.97–1.0 на train); отказ = нет строк в candidates.csv</a:t>
            </a:r>
          </a:p>
        </p:txBody>
      </p:sp>
      <p:sp>
        <p:nvSpPr>
          <p:cNvPr id="30" name="Oval 29"/>
          <p:cNvSpPr/>
          <p:nvPr/>
        </p:nvSpPr>
        <p:spPr>
          <a:xfrm>
            <a:off x="6949440" y="5413248"/>
            <a:ext cx="475488" cy="475488"/>
          </a:xfrm>
          <a:prstGeom prst="ellipse">
            <a:avLst/>
          </a:prstGeom>
          <a:solidFill>
            <a:srgbClr val="FF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liders-horizontal-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3557" y="5527365"/>
            <a:ext cx="247253" cy="24725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07808" y="5394960"/>
            <a:ext cx="4032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300" b="1">
                <a:solidFill>
                  <a:srgbClr val="2B0F4C"/>
                </a:solidFill>
                <a:latin typeface="Montserrat"/>
              </a:rPr>
              <a:t>Порог — параметр продукта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5696712"/>
            <a:ext cx="40325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оператор меняет строгость в UI/API без переобучения; τ по умолчанию обоснован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7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FFFFFF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7472" y="320040"/>
            <a:ext cx="3081528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АНАЛИЗ ОШИБОК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ontserrat"/>
              </a:rPr>
              <a:t>Три типовые причины промахов — и что с ними делаем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874519"/>
            <a:ext cx="11091672" cy="1389888"/>
          </a:xfrm>
          <a:prstGeom prst="roundRect">
            <a:avLst>
              <a:gd name="adj" fmla="val 10526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22959" y="2286000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opy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022" y="2422062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54480" y="2057400"/>
            <a:ext cx="16002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5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«Близнецы»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240279"/>
            <a:ext cx="4538350" cy="6583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58790" y="2002536"/>
            <a:ext cx="3307201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  <a:spcAft>
                <a:spcPts val="400"/>
              </a:spcAft>
            </a:pPr>
            <a:r>
              <a:rPr sz="1000" b="0">
                <a:solidFill>
                  <a:srgbClr val="EFE9FF"/>
                </a:solidFill>
                <a:latin typeface="Montserrat"/>
              </a:rPr>
              <a:t>Одинаковая массовая модель, цвет и комплектация. Разделяются только микродеталями: диски, наклейки, повреждения.</a:t>
            </a:r>
          </a:p>
          <a:p>
            <a:pPr algn="l">
              <a:lnSpc>
                <a:spcPts val="1350"/>
              </a:lnSpc>
              <a:spcAft>
                <a:spcPts val="400"/>
              </a:spcAft>
            </a:pPr>
            <a:r>
              <a:rPr sz="1000" b="1">
                <a:solidFill>
                  <a:srgbClr val="FFB3CB"/>
                </a:solidFill>
                <a:latin typeface="Montserrat"/>
              </a:rPr>
              <a:t>→ Сделано: части-признаки и память XBM. Дальше — агрегация кадров трека.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374136"/>
            <a:ext cx="11091672" cy="1389888"/>
          </a:xfrm>
          <a:prstGeom prst="roundRect">
            <a:avLst>
              <a:gd name="adj" fmla="val 10526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22959" y="3785615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peat-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022" y="3921678"/>
            <a:ext cx="294802" cy="29480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54480" y="3557016"/>
            <a:ext cx="16002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5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Разворот 180°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3739896"/>
            <a:ext cx="4268419" cy="6583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88859" y="3502152"/>
            <a:ext cx="357713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  <a:spcAft>
                <a:spcPts val="400"/>
              </a:spcAft>
            </a:pPr>
            <a:r>
              <a:rPr sz="1000" b="0">
                <a:solidFill>
                  <a:srgbClr val="EFE9FF"/>
                </a:solidFill>
                <a:latin typeface="Montserrat"/>
              </a:rPr>
              <a:t>Запрос «в лоб», в галерее — только корма. Верный ответ рядом: у 79% провалов он в топ-10.</a:t>
            </a:r>
          </a:p>
          <a:p>
            <a:pPr algn="l">
              <a:lnSpc>
                <a:spcPts val="1350"/>
              </a:lnSpc>
              <a:spcAft>
                <a:spcPts val="400"/>
              </a:spcAft>
            </a:pPr>
            <a:r>
              <a:rPr sz="1000" b="1">
                <a:solidFill>
                  <a:srgbClr val="FFB3CB"/>
                </a:solidFill>
                <a:latin typeface="Montserrat"/>
              </a:rPr>
              <a:t>→ Дальше: синтетика ракурсов; мультизапрос до 5 снимков уже есть в API.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73752"/>
            <a:ext cx="11091672" cy="1389888"/>
          </a:xfrm>
          <a:prstGeom prst="roundRect">
            <a:avLst>
              <a:gd name="adj" fmla="val 10526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22959" y="5285232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oon-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022" y="5421294"/>
            <a:ext cx="294802" cy="29480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554480" y="5056632"/>
            <a:ext cx="16002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5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Ночь и дальний план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5239512"/>
            <a:ext cx="4369368" cy="6583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889808" y="5001768"/>
            <a:ext cx="3476183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  <a:spcAft>
                <a:spcPts val="400"/>
              </a:spcAft>
            </a:pPr>
            <a:r>
              <a:rPr sz="1000" b="0">
                <a:solidFill>
                  <a:srgbClr val="EFE9FF"/>
                </a:solidFill>
                <a:latin typeface="Montserrat"/>
              </a:rPr>
              <a:t>Ночная камера ошибается втрое чаще средней; кропы с пропорцией 2:1 — 89% провалов одной камеры.</a:t>
            </a:r>
          </a:p>
          <a:p>
            <a:pPr algn="l">
              <a:lnSpc>
                <a:spcPts val="1350"/>
              </a:lnSpc>
              <a:spcAft>
                <a:spcPts val="400"/>
              </a:spcAft>
            </a:pPr>
            <a:r>
              <a:rPr sz="1000" b="1">
                <a:solidFill>
                  <a:srgbClr val="FFB3CB"/>
                </a:solidFill>
                <a:latin typeface="Montserrat"/>
              </a:rPr>
              <a:t>→ При низкой уверенности сервис отказывает, а не выдаёт ложную находку.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2B0F4C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7472" y="320040"/>
            <a:ext cx="5340096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ОШИБКИ НА ТЕСТОВОЙ ВЫБОРКЕ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50"/>
              </a:lnSpc>
              <a:spcAft>
                <a:spcPts val="0"/>
              </a:spcAft>
            </a:pPr>
            <a:r>
              <a:rPr sz="2400" b="1">
                <a:solidFill>
                  <a:srgbClr val="2B0F4C"/>
                </a:solidFill>
                <a:latin typeface="Montserrat"/>
              </a:rPr>
              <a:t>Разбор примеров из закрытой тестовой выборки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874519"/>
            <a:ext cx="7014078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6739758" cy="4114800"/>
          </a:xfrm>
          <a:prstGeom prst="roundRect">
            <a:avLst>
              <a:gd name="adj" fmla="val 3000"/>
            </a:avLst>
          </a:prstGeom>
        </p:spPr>
      </p:pic>
      <p:sp>
        <p:nvSpPr>
          <p:cNvPr id="26" name="Oval 25"/>
          <p:cNvSpPr/>
          <p:nvPr/>
        </p:nvSpPr>
        <p:spPr>
          <a:xfrm>
            <a:off x="7837038" y="1892807"/>
            <a:ext cx="384048" cy="384048"/>
          </a:xfrm>
          <a:prstGeom prst="ellipse">
            <a:avLst/>
          </a:prstGeom>
          <a:solidFill>
            <a:srgbClr val="FF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us-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210" y="1984979"/>
            <a:ext cx="199704" cy="1997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39958" y="1874519"/>
            <a:ext cx="330035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1">
                <a:solidFill>
                  <a:srgbClr val="2B0F4C"/>
                </a:solidFill>
                <a:latin typeface="Montserrat"/>
              </a:rPr>
              <a:t>Редкий класс. </a:t>
            </a:r>
            <a:r>
              <a:rPr sz="1050" b="0">
                <a:solidFill>
                  <a:srgbClr val="5B4E6E"/>
                </a:solidFill>
                <a:latin typeface="Montserrat"/>
              </a:rPr>
              <a:t>автобусы — ~2% кадров train (оценка YOLOv8n) — чужие проходят порог. Дальше: дообучение на автобусах и грузовиках.</a:t>
            </a:r>
          </a:p>
        </p:txBody>
      </p:sp>
      <p:sp>
        <p:nvSpPr>
          <p:cNvPr id="29" name="Oval 28"/>
          <p:cNvSpPr/>
          <p:nvPr/>
        </p:nvSpPr>
        <p:spPr>
          <a:xfrm>
            <a:off x="7837038" y="2871216"/>
            <a:ext cx="384048" cy="384048"/>
          </a:xfrm>
          <a:prstGeom prst="ellipse">
            <a:avLst/>
          </a:prstGeom>
          <a:solidFill>
            <a:srgbClr val="FF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ar-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9210" y="2963387"/>
            <a:ext cx="199704" cy="199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339958" y="2852928"/>
            <a:ext cx="330035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1">
                <a:solidFill>
                  <a:srgbClr val="2B0F4C"/>
                </a:solidFill>
                <a:latin typeface="Montserrat"/>
              </a:rPr>
              <a:t>Одна марка и модель. </a:t>
            </a:r>
            <a:r>
              <a:rPr sz="1050" b="0">
                <a:solidFill>
                  <a:srgbClr val="5B4E6E"/>
                </a:solidFill>
                <a:latin typeface="Montserrat"/>
              </a:rPr>
              <a:t>верный кадр первый, хвост списка шумный. F1 считается по top-1; хвост оператору — с относительным порогом.</a:t>
            </a:r>
          </a:p>
        </p:txBody>
      </p:sp>
      <p:sp>
        <p:nvSpPr>
          <p:cNvPr id="32" name="Oval 31"/>
          <p:cNvSpPr/>
          <p:nvPr/>
        </p:nvSpPr>
        <p:spPr>
          <a:xfrm>
            <a:off x="7837038" y="3849624"/>
            <a:ext cx="384048" cy="384048"/>
          </a:xfrm>
          <a:prstGeom prst="ellipse">
            <a:avLst/>
          </a:prstGeom>
          <a:solidFill>
            <a:srgbClr val="FF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users-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9210" y="3941795"/>
            <a:ext cx="199704" cy="1997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39958" y="3831336"/>
            <a:ext cx="330035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1">
                <a:solidFill>
                  <a:srgbClr val="2B0F4C"/>
                </a:solidFill>
                <a:latin typeface="Montserrat"/>
              </a:rPr>
              <a:t>Близнецы у порога. </a:t>
            </a:r>
            <a:r>
              <a:rPr sz="1050" b="0">
                <a:solidFill>
                  <a:srgbClr val="5B4E6E"/>
                </a:solidFill>
                <a:latin typeface="Montserrat"/>
              </a:rPr>
              <a:t>уверенность ≈ τ: показываем оба кадра, решает оператор.</a:t>
            </a:r>
          </a:p>
        </p:txBody>
      </p:sp>
      <p:sp>
        <p:nvSpPr>
          <p:cNvPr id="35" name="Oval 34"/>
          <p:cNvSpPr/>
          <p:nvPr/>
        </p:nvSpPr>
        <p:spPr>
          <a:xfrm>
            <a:off x="7837038" y="4526280"/>
            <a:ext cx="384048" cy="384048"/>
          </a:xfrm>
          <a:prstGeom prst="ellipse">
            <a:avLst/>
          </a:prstGeom>
          <a:solidFill>
            <a:srgbClr val="FF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hield-check-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9210" y="4618451"/>
            <a:ext cx="199704" cy="19970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39958" y="4507992"/>
            <a:ext cx="330035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1">
                <a:solidFill>
                  <a:srgbClr val="2B0F4C"/>
                </a:solidFill>
                <a:latin typeface="Montserrat"/>
              </a:rPr>
              <a:t>Отказ. </a:t>
            </a:r>
            <a:r>
              <a:rPr sz="1050" b="0">
                <a:solidFill>
                  <a:srgbClr val="5B4E6E"/>
                </a:solidFill>
                <a:latin typeface="Montserrat"/>
              </a:rPr>
              <a:t>та же модель другого цвета — ниже τ, ложной находки нет.</a:t>
            </a:r>
          </a:p>
        </p:txBody>
      </p:sp>
      <p:sp>
        <p:nvSpPr>
          <p:cNvPr id="38" name="Oval 37"/>
          <p:cNvSpPr/>
          <p:nvPr/>
        </p:nvSpPr>
        <p:spPr>
          <a:xfrm>
            <a:off x="7837038" y="5202936"/>
            <a:ext cx="384048" cy="384048"/>
          </a:xfrm>
          <a:prstGeom prst="ellipse">
            <a:avLst/>
          </a:prstGeom>
          <a:solidFill>
            <a:srgbClr val="FF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nfo-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9210" y="5295107"/>
            <a:ext cx="199704" cy="19970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39958" y="5184648"/>
            <a:ext cx="330035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1">
                <a:solidFill>
                  <a:srgbClr val="2B0F4C"/>
                </a:solidFill>
                <a:latin typeface="Montserrat"/>
              </a:rPr>
              <a:t>Как отобраны. </a:t>
            </a:r>
            <a:r>
              <a:rPr sz="1050" b="0">
                <a:solidFill>
                  <a:srgbClr val="5B4E6E"/>
                </a:solidFill>
                <a:latin typeface="Montserrat"/>
              </a:rPr>
              <a:t>src/make_test_examples.py по embeddings.npy и test_cameras.csv; разметки теста нет, вывод — визуальный.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FFFFFF"/>
                </a:solidFill>
              </a:rPr>
              <a:t>14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7472" y="320040"/>
            <a:ext cx="3950208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СКОРОСТЬ И МАСШТАБ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ontserrat"/>
              </a:rPr>
              <a:t>Быстро на одной видеокарте и готово к миллиону снимков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874519"/>
            <a:ext cx="2567178" cy="3840480"/>
          </a:xfrm>
          <a:prstGeom prst="roundRect">
            <a:avLst>
              <a:gd name="adj" fmla="val 5699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22959" y="2167127"/>
            <a:ext cx="658368" cy="65836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imer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2325136"/>
            <a:ext cx="342351" cy="34235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59" y="3017520"/>
            <a:ext cx="220141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ontserrat"/>
              </a:rPr>
              <a:t>17</a:t>
            </a:r>
            <a:r>
              <a:rPr sz="2000" b="1">
                <a:solidFill>
                  <a:srgbClr val="D9CFFA"/>
                </a:solidFill>
                <a:latin typeface="Montserrat"/>
              </a:rPr>
              <a:t> мс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886200"/>
            <a:ext cx="2247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1">
                <a:solidFill>
                  <a:srgbClr val="FFB3CB"/>
                </a:solidFill>
                <a:latin typeface="Montserrat"/>
              </a:rPr>
              <a:t>НА ОДНО ТС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251960"/>
            <a:ext cx="210997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EFE9FF"/>
                </a:solidFill>
                <a:latin typeface="Montserrat"/>
              </a:rPr>
              <a:t>признак одного ТС при батче 1: чтение JPEG → вектор (RTX 4070 Ti SUPER; RTX 3060 — 39 мс)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90138" y="1874519"/>
            <a:ext cx="2567178" cy="3840480"/>
          </a:xfrm>
          <a:prstGeom prst="roundRect">
            <a:avLst>
              <a:gd name="adj" fmla="val 5699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664458" y="2167127"/>
            <a:ext cx="658368" cy="65836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gauge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466" y="2325136"/>
            <a:ext cx="342351" cy="34235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64458" y="3017520"/>
            <a:ext cx="220141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ontserrat"/>
              </a:rPr>
              <a:t>126</a:t>
            </a:r>
            <a:r>
              <a:rPr sz="2000" b="1">
                <a:solidFill>
                  <a:srgbClr val="D9CFFA"/>
                </a:solidFill>
                <a:latin typeface="Montserrat"/>
              </a:rPr>
              <a:t> FPS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4458" y="3886200"/>
            <a:ext cx="2247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1">
                <a:solidFill>
                  <a:srgbClr val="FFB3CB"/>
                </a:solidFill>
                <a:latin typeface="Montserrat"/>
              </a:rPr>
              <a:t>ПРОПУСКНАЯ СПОСОБНОСТЬ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4458" y="4251960"/>
            <a:ext cx="210997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EFE9FF"/>
                </a:solidFill>
                <a:latin typeface="Montserrat"/>
              </a:rPr>
              <a:t>пакетно, без роста памяти; пик VRAM 1.9 ГБ (RTX 3060 — 55 FPS)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1636" y="1874519"/>
            <a:ext cx="2567178" cy="3840480"/>
          </a:xfrm>
          <a:prstGeom prst="roundRect">
            <a:avLst>
              <a:gd name="adj" fmla="val 5699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505955" y="2167127"/>
            <a:ext cx="658368" cy="65836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hard-drive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964" y="2325136"/>
            <a:ext cx="342351" cy="34235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505955" y="3017520"/>
            <a:ext cx="220141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ontserrat"/>
              </a:rPr>
              <a:t>770</a:t>
            </a:r>
            <a:r>
              <a:rPr sz="2000" b="1">
                <a:solidFill>
                  <a:srgbClr val="D9CFFA"/>
                </a:solidFill>
                <a:latin typeface="Montserrat"/>
              </a:rPr>
              <a:t> МиБ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5955" y="3886200"/>
            <a:ext cx="2247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1">
                <a:solidFill>
                  <a:srgbClr val="FFB3CB"/>
                </a:solidFill>
                <a:latin typeface="Montserrat"/>
              </a:rPr>
              <a:t>ВЕСА ИЗ ЛИМИТА 2048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5955" y="4251960"/>
            <a:ext cx="210997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EFE9FF"/>
                </a:solidFill>
                <a:latin typeface="Montserrat"/>
              </a:rPr>
              <a:t>2 модели fp16 + индекс + детектор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05955" y="5212080"/>
            <a:ext cx="2018538" cy="12801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6505955" y="5212080"/>
            <a:ext cx="758922" cy="12801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05955" y="4937760"/>
            <a:ext cx="201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</a:pPr>
            <a:r>
              <a:rPr sz="950" b="1">
                <a:solidFill>
                  <a:srgbClr val="D9CFFA"/>
                </a:solidFill>
                <a:latin typeface="Montserrat"/>
              </a:rPr>
              <a:t>38% лимита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73134" y="1874519"/>
            <a:ext cx="2567178" cy="3840480"/>
          </a:xfrm>
          <a:prstGeom prst="roundRect">
            <a:avLst>
              <a:gd name="adj" fmla="val 5699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9347454" y="2167127"/>
            <a:ext cx="658368" cy="65836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database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5462" y="2325136"/>
            <a:ext cx="342351" cy="34235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47454" y="3017520"/>
            <a:ext cx="220141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ontserrat"/>
              </a:rPr>
              <a:t>10⁶</a:t>
            </a:r>
            <a:r>
              <a:rPr sz="2000" b="1">
                <a:solidFill>
                  <a:srgbClr val="D9CFFA"/>
                </a:solidFill>
                <a:latin typeface="Montserrat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7454" y="3886200"/>
            <a:ext cx="2247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1">
                <a:solidFill>
                  <a:srgbClr val="FFB3CB"/>
                </a:solidFill>
                <a:latin typeface="Montserrat"/>
              </a:rPr>
              <a:t>СНИМКОВ В ГАЛЕРЕЕ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7454" y="4251960"/>
            <a:ext cx="210997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0">
                <a:solidFill>
                  <a:srgbClr val="EFE9FF"/>
                </a:solidFill>
                <a:latin typeface="Montserrat"/>
              </a:rPr>
              <a:t>FAISS HNSW + SQ8 на 10⁶ × 3072-d: 1.1 мс/запрос, recall@10 0.87, индекс 2.9 ГБ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0">
                <a:solidFill>
                  <a:srgbClr val="D9CFFA"/>
                </a:solidFill>
                <a:latin typeface="Montserrat"/>
              </a:rPr>
              <a:t>Замеры: src/bench_official.py (протокол стенда, медиана 300 прогонов) и src/ann_demo.py · официальные — скрипт организаторов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6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2B0F4C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7472" y="320040"/>
            <a:ext cx="1517904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ДЕМО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</a:pPr>
            <a:r>
              <a:rPr sz="2400" b="1">
                <a:solidFill>
                  <a:srgbClr val="2B0F4C"/>
                </a:solidFill>
                <a:latin typeface="Montserrat"/>
              </a:rPr>
              <a:t>Живой сервис: </a:t>
            </a:r>
            <a:r>
              <a:rPr sz="2400" b="1">
                <a:solidFill>
                  <a:srgbClr val="FF0053"/>
                </a:solidFill>
                <a:latin typeface="Montserrat"/>
                <a:hlinkClick r:id="rId7"/>
              </a:rPr>
              <a:t>reid.up-point.tech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4572000" cy="3168396"/>
          </a:xfrm>
          <a:prstGeom prst="roundRect">
            <a:avLst>
              <a:gd name="adj" fmla="val 3463"/>
            </a:avLst>
          </a:prstGeom>
          <a:solidFill>
            <a:srgbClr val="1B1030"/>
          </a:solidFill>
          <a:ln>
            <a:noFill/>
          </a:ln>
          <a:effectLst>
            <a:outerShdw blurRad="254000" dist="76200" dir="5400000" algn="t" rotWithShape="0">
              <a:srgbClr val="2B0F4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94944" y="1975103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1975103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1975103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80160" y="1938527"/>
            <a:ext cx="3108960" cy="182880"/>
          </a:xfrm>
          <a:prstGeom prst="roundRect">
            <a:avLst>
              <a:gd name="adj" fmla="val 50000"/>
            </a:avLst>
          </a:prstGeom>
          <a:solidFill>
            <a:srgbClr val="2E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1938527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</a:pPr>
            <a:r>
              <a:rPr sz="850" b="0">
                <a:solidFill>
                  <a:srgbClr val="C9BCE8"/>
                </a:solidFill>
                <a:latin typeface="Montserrat"/>
              </a:rPr>
              <a:t>reid.up-point.tech/app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85415"/>
            <a:ext cx="4572000" cy="2857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5244083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0"/>
              </a:lnSpc>
              <a:spcAft>
                <a:spcPts val="0"/>
              </a:spcAft>
            </a:pPr>
            <a:r>
              <a:rPr sz="1150" b="1">
                <a:solidFill>
                  <a:srgbClr val="2B0F4C"/>
                </a:solidFill>
                <a:latin typeface="Montserrat"/>
              </a:rPr>
              <a:t>Поиск: кандидаты, уверенность, карта внимания</a:t>
            </a:r>
          </a:p>
        </p:txBody>
      </p:sp>
      <p:pic>
        <p:nvPicPr>
          <p:cNvPr id="18" name="Picture 17" descr="check-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628131"/>
            <a:ext cx="182880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59" y="5609844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Фото или кадр из видео, кадрирование в браузере</a:t>
            </a:r>
          </a:p>
        </p:txBody>
      </p:sp>
      <p:pic>
        <p:nvPicPr>
          <p:cNvPr id="20" name="Picture 19" descr="check-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902451"/>
            <a:ext cx="182880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59" y="5884164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Карта внимания: куда смотрела модель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59" y="1874519"/>
            <a:ext cx="4572000" cy="3168396"/>
          </a:xfrm>
          <a:prstGeom prst="roundRect">
            <a:avLst>
              <a:gd name="adj" fmla="val 3463"/>
            </a:avLst>
          </a:prstGeom>
          <a:solidFill>
            <a:srgbClr val="1B1030"/>
          </a:solidFill>
          <a:ln>
            <a:noFill/>
          </a:ln>
          <a:effectLst>
            <a:outerShdw blurRad="254000" dist="76200" dir="5400000" algn="t" rotWithShape="0">
              <a:srgbClr val="2B0F4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541264" y="1975103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96712" y="1975103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52159" y="1975103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79" y="1938527"/>
            <a:ext cx="3108960" cy="182880"/>
          </a:xfrm>
          <a:prstGeom prst="roundRect">
            <a:avLst>
              <a:gd name="adj" fmla="val 50000"/>
            </a:avLst>
          </a:prstGeom>
          <a:solidFill>
            <a:srgbClr val="2E2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26479" y="1938527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</a:pPr>
            <a:r>
              <a:rPr sz="850" b="0">
                <a:solidFill>
                  <a:srgbClr val="C9BCE8"/>
                </a:solidFill>
                <a:latin typeface="Montserrat"/>
              </a:rPr>
              <a:t>reid.up-point.tech/app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59" y="2185415"/>
            <a:ext cx="4572000" cy="2857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94959" y="5244083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0"/>
              </a:lnSpc>
              <a:spcAft>
                <a:spcPts val="0"/>
              </a:spcAft>
            </a:pPr>
            <a:r>
              <a:rPr sz="1150" b="1">
                <a:solidFill>
                  <a:srgbClr val="2B0F4C"/>
                </a:solidFill>
                <a:latin typeface="Montserrat"/>
              </a:rPr>
              <a:t>Аналитика: камеры, межкамерные треки, история</a:t>
            </a:r>
          </a:p>
        </p:txBody>
      </p:sp>
      <p:pic>
        <p:nvPicPr>
          <p:cNvPr id="30" name="Picture 29" descr="check-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59" y="5628131"/>
            <a:ext cx="182880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669279" y="5609844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Порог отказа и top-N меняются на лету</a:t>
            </a:r>
          </a:p>
        </p:txBody>
      </p:sp>
      <p:pic>
        <p:nvPicPr>
          <p:cNvPr id="32" name="Picture 31" descr="check-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59" y="5902451"/>
            <a:ext cx="182880" cy="182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669279" y="5884164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5B4E6E"/>
                </a:solidFill>
                <a:latin typeface="Montserrat"/>
              </a:rPr>
              <a:t>Экспорт результата в JSON · Swagger на /docs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1874519"/>
            <a:ext cx="1399032" cy="3168396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9525">
            <a:solidFill>
              <a:srgbClr val="EADFF6"/>
            </a:solidFill>
          </a:ln>
          <a:effectLst>
            <a:outerShdw blurRad="203200" dist="50800" dir="5400000" algn="t" rotWithShape="0">
              <a:srgbClr val="2B0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8440" y="2057400"/>
            <a:ext cx="1124712" cy="11247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332719" y="3273552"/>
            <a:ext cx="12161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00"/>
              </a:lnSpc>
              <a:spcAft>
                <a:spcPts val="200"/>
              </a:spcAft>
            </a:pPr>
            <a:r>
              <a:rPr sz="1100" b="1">
                <a:solidFill>
                  <a:srgbClr val="2B0F4C"/>
                </a:solidFill>
                <a:latin typeface="Montserrat"/>
                <a:hlinkClick r:id="rId7"/>
              </a:rPr>
              <a:t>Демо онлайн</a:t>
            </a:r>
          </a:p>
          <a:p>
            <a:pPr algn="ctr">
              <a:lnSpc>
                <a:spcPts val="1300"/>
              </a:lnSpc>
              <a:spcAft>
                <a:spcPts val="200"/>
              </a:spcAft>
            </a:pPr>
            <a:r>
              <a:rPr sz="950" b="0">
                <a:solidFill>
                  <a:srgbClr val="5B4E6E"/>
                </a:solidFill>
                <a:latin typeface="Montserrat"/>
              </a:rPr>
              <a:t>логин</a:t>
            </a:r>
          </a:p>
          <a:p>
            <a:pPr algn="ctr">
              <a:lnSpc>
                <a:spcPts val="1500"/>
              </a:lnSpc>
              <a:spcAft>
                <a:spcPts val="200"/>
              </a:spcAft>
            </a:pPr>
            <a:r>
              <a:rPr sz="1100" b="1">
                <a:solidFill>
                  <a:srgbClr val="FF0053"/>
                </a:solidFill>
                <a:latin typeface="Montserrat"/>
              </a:rPr>
              <a:t>test / test</a:t>
            </a:r>
          </a:p>
          <a:p>
            <a:pPr algn="ctr">
              <a:lnSpc>
                <a:spcPts val="1300"/>
              </a:lnSpc>
              <a:spcAft>
                <a:spcPts val="200"/>
              </a:spcAft>
            </a:pPr>
            <a:r>
              <a:rPr sz="950" b="0">
                <a:solidFill>
                  <a:srgbClr val="5B2A9E"/>
                </a:solidFill>
                <a:latin typeface="Montserrat"/>
                <a:hlinkClick r:id="rId10"/>
              </a:rPr>
              <a:t>видео (58 с)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FFFFFF"/>
                </a:solidFill>
              </a:rPr>
              <a:t>16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7472" y="320040"/>
            <a:ext cx="5513832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СООТВЕТСТВИЕ ТЗ И АРТЕФАКТЫ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ontserrat"/>
              </a:rPr>
              <a:t>Требования ТЗ закрыты и проверяются одной командой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874519"/>
            <a:ext cx="5408676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22959" y="2130552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adge-chec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022" y="2266614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72768" y="2112263"/>
            <a:ext cx="41285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Артефакты сдачи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2441448"/>
            <a:ext cx="41285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submission.csv · embeddings.npy · candidates.csv — самопроверка пройдена, в Docker воспроизводятся (cos ≥ 0.99999)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1874519"/>
            <a:ext cx="5408676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505955" y="2130552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erminal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2018" y="2266614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255764" y="2112263"/>
            <a:ext cx="41285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Запуск одной командой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5764" y="2441448"/>
            <a:ext cx="41285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docker compose up → UI :8080 + API :8000 · docker compose run --rm inference → артефакты; офлайн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383279"/>
            <a:ext cx="5408676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22959" y="3639311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lug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022" y="3775374"/>
            <a:ext cx="294802" cy="29480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572768" y="3621024"/>
            <a:ext cx="41285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API и тонкий клиент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3950207"/>
            <a:ext cx="41285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OpenAPI/Swagger на /docs · React-клиент в браузере · JWT и API-ключи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1636" y="3383279"/>
            <a:ext cx="5408676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505955" y="3639311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gauge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2018" y="3775374"/>
            <a:ext cx="294802" cy="29480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255764" y="3621024"/>
            <a:ext cx="41285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Ограничения ресурсов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5764" y="3950207"/>
            <a:ext cx="41285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веса 770 МиБ ≤ 2048 · без OOM (пик VRAM 1.9 ГБ) · точные версии пакетов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892040"/>
            <a:ext cx="5408676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22959" y="5148072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hield-check-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022" y="5284134"/>
            <a:ext cx="294802" cy="29480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572768" y="5129783"/>
            <a:ext cx="41285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Чистота решения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72768" y="5458968"/>
            <a:ext cx="41285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признаки номера не используются: номера размыты, карта внимания на номер не смотрит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1636" y="4892040"/>
            <a:ext cx="5408676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6505955" y="5148072"/>
            <a:ext cx="566928" cy="566928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github-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2018" y="5284134"/>
            <a:ext cx="294802" cy="29480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255764" y="5129783"/>
            <a:ext cx="412851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1">
                <a:solidFill>
                  <a:srgbClr val="2B0F4C"/>
                </a:solidFill>
                <a:latin typeface="Montserrat"/>
              </a:rPr>
              <a:t>Код, веса, артефакты, документация</a:t>
            </a:r>
          </a:p>
          <a:p>
            <a:pPr algn="l">
              <a:lnSpc>
                <a:spcPts val="1550"/>
              </a:lnSpc>
              <a:spcAft>
                <a:spcPts val="400"/>
              </a:spcAft>
            </a:pPr>
            <a:r>
              <a:rPr sz="1150" b="1">
                <a:solidFill>
                  <a:srgbClr val="FF0053"/>
                </a:solidFill>
                <a:latin typeface="Montserrat"/>
                <a:hlinkClick r:id="rId11"/>
              </a:rPr>
              <a:t>github.com/Enoti4Ka44/FalconREID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 sz="1200">
                <a:solidFill>
                  <a:srgbClr val="FFFFFF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7472" y="320040"/>
            <a:ext cx="4123944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ДАЛЬНЕЙШЕЕ РАЗВИТИЕ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5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Что дальше: от пилота к городскому масштабу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66367" y="2331720"/>
            <a:ext cx="9559137" cy="0"/>
          </a:xfrm>
          <a:prstGeom prst="line">
            <a:avLst/>
          </a:prstGeom>
          <a:ln w="25400">
            <a:solidFill>
              <a:srgbClr val="D9CFFA">
                <a:alpha val="6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00607" y="1965960"/>
            <a:ext cx="731520" cy="73152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ootprints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172" y="2141524"/>
            <a:ext cx="380390" cy="38039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" y="2971800"/>
            <a:ext cx="2035454" cy="2514600"/>
          </a:xfrm>
          <a:prstGeom prst="roundRect">
            <a:avLst>
              <a:gd name="adj" fmla="val 7187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3154680"/>
            <a:ext cx="16331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1">
                <a:solidFill>
                  <a:srgbClr val="FFB3CB"/>
                </a:solidFill>
                <a:latin typeface="Montserrat"/>
              </a:rPr>
              <a:t>СЕЙЧАС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383280"/>
            <a:ext cx="163311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Ближайшие шаги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50208"/>
            <a:ext cx="1633118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Агрегация кадров трека · ViT-H+ как «точный профиль» (mAP@10 0.883) для мощных GPU · калибровка порога на живом потоке</a:t>
            </a:r>
          </a:p>
        </p:txBody>
      </p:sp>
      <p:sp>
        <p:nvSpPr>
          <p:cNvPr id="17" name="Oval 16"/>
          <p:cNvSpPr/>
          <p:nvPr/>
        </p:nvSpPr>
        <p:spPr>
          <a:xfrm>
            <a:off x="3464661" y="1965960"/>
            <a:ext cx="731520" cy="731520"/>
          </a:xfrm>
          <a:prstGeom prst="ellipse">
            <a:avLst/>
          </a:prstGeom>
          <a:solidFill>
            <a:srgbClr val="3B1466"/>
          </a:solidFill>
          <a:ln w="12700">
            <a:solidFill>
              <a:srgbClr val="D9C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adio-tower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0226" y="2141524"/>
            <a:ext cx="380390" cy="38039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812694" y="2971800"/>
            <a:ext cx="2035454" cy="2514600"/>
          </a:xfrm>
          <a:prstGeom prst="roundRect">
            <a:avLst>
              <a:gd name="adj" fmla="val 7187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013862" y="3154680"/>
            <a:ext cx="16331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1">
                <a:solidFill>
                  <a:srgbClr val="D9CFFA"/>
                </a:solidFill>
                <a:latin typeface="Montserrat"/>
              </a:rPr>
              <a:t>ЭТАП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3862" y="3383280"/>
            <a:ext cx="163311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Пилот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3862" y="3950208"/>
            <a:ext cx="1633118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интеграция с потоком камерного парка, dead-letter очереди, метрики качества на живых данных</a:t>
            </a:r>
          </a:p>
        </p:txBody>
      </p:sp>
      <p:sp>
        <p:nvSpPr>
          <p:cNvPr id="23" name="Oval 22"/>
          <p:cNvSpPr/>
          <p:nvPr/>
        </p:nvSpPr>
        <p:spPr>
          <a:xfrm>
            <a:off x="5728716" y="1965960"/>
            <a:ext cx="731520" cy="731520"/>
          </a:xfrm>
          <a:prstGeom prst="ellipse">
            <a:avLst/>
          </a:prstGeom>
          <a:solidFill>
            <a:srgbClr val="3B1466"/>
          </a:solidFill>
          <a:ln w="12700">
            <a:solidFill>
              <a:srgbClr val="D9C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network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4280" y="2141524"/>
            <a:ext cx="380390" cy="38039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076748" y="2971800"/>
            <a:ext cx="2035454" cy="2514600"/>
          </a:xfrm>
          <a:prstGeom prst="roundRect">
            <a:avLst>
              <a:gd name="adj" fmla="val 7187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277916" y="3154680"/>
            <a:ext cx="16331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1">
                <a:solidFill>
                  <a:srgbClr val="D9CFFA"/>
                </a:solidFill>
                <a:latin typeface="Montserrat"/>
              </a:rPr>
              <a:t>ЭТАП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7916" y="3383280"/>
            <a:ext cx="163311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Масштаб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7916" y="3950208"/>
            <a:ext cx="1633118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pgvector/Milvus, шардирование по округам и времени, реплики API за балансировщиком</a:t>
            </a:r>
          </a:p>
        </p:txBody>
      </p:sp>
      <p:sp>
        <p:nvSpPr>
          <p:cNvPr id="29" name="Oval 28"/>
          <p:cNvSpPr/>
          <p:nvPr/>
        </p:nvSpPr>
        <p:spPr>
          <a:xfrm>
            <a:off x="7992770" y="1965960"/>
            <a:ext cx="731520" cy="731520"/>
          </a:xfrm>
          <a:prstGeom prst="ellipse">
            <a:avLst/>
          </a:prstGeom>
          <a:solidFill>
            <a:srgbClr val="3B1466"/>
          </a:solidFill>
          <a:ln w="12700">
            <a:solidFill>
              <a:srgbClr val="D9C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parkles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8335" y="2141524"/>
            <a:ext cx="380390" cy="38039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340803" y="2971800"/>
            <a:ext cx="2035454" cy="2514600"/>
          </a:xfrm>
          <a:prstGeom prst="roundRect">
            <a:avLst>
              <a:gd name="adj" fmla="val 7187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41971" y="3154680"/>
            <a:ext cx="16331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1">
                <a:solidFill>
                  <a:srgbClr val="D9CFFA"/>
                </a:solidFill>
                <a:latin typeface="Montserrat"/>
              </a:rPr>
              <a:t>ЭТАП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1971" y="3383280"/>
            <a:ext cx="163311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Качество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1971" y="3950208"/>
            <a:ext cx="1633118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дообучение на потоке (semi-supervised), hard-negative mining на городских «близнецах»</a:t>
            </a:r>
          </a:p>
        </p:txBody>
      </p:sp>
      <p:sp>
        <p:nvSpPr>
          <p:cNvPr id="35" name="Oval 34"/>
          <p:cNvSpPr/>
          <p:nvPr/>
        </p:nvSpPr>
        <p:spPr>
          <a:xfrm>
            <a:off x="10256824" y="1965960"/>
            <a:ext cx="731520" cy="731520"/>
          </a:xfrm>
          <a:prstGeom prst="ellipse">
            <a:avLst/>
          </a:prstGeom>
          <a:solidFill>
            <a:srgbClr val="3B1466"/>
          </a:solidFill>
          <a:ln w="12700">
            <a:solidFill>
              <a:srgbClr val="D9C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ayout-dashboard-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2389" y="2141524"/>
            <a:ext cx="380390" cy="38039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9604857" y="2971800"/>
            <a:ext cx="2035454" cy="2514600"/>
          </a:xfrm>
          <a:prstGeom prst="roundRect">
            <a:avLst>
              <a:gd name="adj" fmla="val 7187"/>
            </a:avLst>
          </a:prstGeom>
          <a:solidFill>
            <a:srgbClr val="FFFFFF">
              <a:alpha val="85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806025" y="3154680"/>
            <a:ext cx="16331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</a:pPr>
            <a:r>
              <a:rPr sz="950" b="1">
                <a:solidFill>
                  <a:srgbClr val="D9CFFA"/>
                </a:solidFill>
                <a:latin typeface="Montserrat"/>
              </a:rPr>
              <a:t>ЭТАП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06025" y="3383280"/>
            <a:ext cx="163311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Продукт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6025" y="3950208"/>
            <a:ext cx="1633118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0"/>
              </a:lnSpc>
              <a:spcAft>
                <a:spcPts val="0"/>
              </a:spcAft>
            </a:pPr>
            <a:r>
              <a:rPr sz="1050" b="0">
                <a:solidFill>
                  <a:srgbClr val="EFE9FF"/>
                </a:solidFill>
                <a:latin typeface="Montserrat"/>
              </a:rPr>
              <a:t>трекинг + мультикамерные треки, поиск по нескольким снимкам, роли и аудит операторов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48640" y="5669280"/>
            <a:ext cx="110916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50"/>
              </a:lnSpc>
              <a:spcAft>
                <a:spcPts val="0"/>
              </a:spcAft>
            </a:pPr>
            <a:r>
              <a:rPr sz="1200" b="0">
                <a:solidFill>
                  <a:srgbClr val="5B4E6E"/>
                </a:solidFill>
                <a:latin typeface="Montserrat"/>
              </a:rPr>
              <a:t>▶ Демо: </a:t>
            </a:r>
            <a:r>
              <a:rPr sz="1200" b="1">
                <a:solidFill>
                  <a:srgbClr val="FF0053"/>
                </a:solidFill>
                <a:latin typeface="Montserrat"/>
                <a:hlinkClick r:id="rId10"/>
              </a:rPr>
              <a:t>reid.up-point.tech/app</a:t>
            </a:r>
            <a:r>
              <a:rPr sz="1200" b="0">
                <a:solidFill>
                  <a:srgbClr val="5B4E6E"/>
                </a:solidFill>
                <a:latin typeface="Montserrat"/>
              </a:rPr>
              <a:t>     ·     Код: </a:t>
            </a:r>
            <a:r>
              <a:rPr sz="1200" b="1">
                <a:solidFill>
                  <a:srgbClr val="FF0053"/>
                </a:solidFill>
                <a:latin typeface="Montserrat"/>
                <a:hlinkClick r:id="rId11"/>
              </a:rPr>
              <a:t>github.com/Enoti4Ka44/FalconREID</a:t>
            </a:r>
            <a:r>
              <a:rPr sz="1200" b="0">
                <a:solidFill>
                  <a:srgbClr val="5B4E6E"/>
                </a:solidFill>
                <a:latin typeface="Montserrat"/>
              </a:rPr>
              <a:t>     ·     Вход: </a:t>
            </a:r>
            <a:r>
              <a:rPr sz="1200" b="1">
                <a:solidFill>
                  <a:srgbClr val="2B0F4C"/>
                </a:solidFill>
                <a:latin typeface="Montserrat"/>
              </a:rPr>
              <a:t>test / test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ONLYOFFICE/8.0.0.99</Application>
  <DocSecurity>0</DocSecurity>
  <PresentationFormat>Широкоэкранный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Анастасия Юшкова</dc:creator>
  <cp:keywords/>
  <dc:description/>
  <dc:identifier/>
  <dc:language/>
  <cp:lastModifiedBy/>
  <cp:revision>97</cp:revision>
  <dcterms:created xsi:type="dcterms:W3CDTF">2023-05-15T07:36:23Z</dcterms:created>
  <dcterms:modified xsi:type="dcterms:W3CDTF">2026-09-28T20:07:16Z</dcterms:modified>
  <cp:category/>
  <cp:contentStatus/>
  <cp:version/>
</cp:coreProperties>
</file>