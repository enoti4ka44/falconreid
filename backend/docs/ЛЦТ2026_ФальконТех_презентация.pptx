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75" r:id="rId12"/>
    <p:sldId id="372" r:id="rId14"/>
    <p:sldId id="267" r:id="rId26"/>
    <p:sldId id="268" r:id="rId25"/>
    <p:sldId id="262" r:id="rId21"/>
    <p:sldId id="263" r:id="rId22"/>
    <p:sldId id="266" r:id="rId23"/>
    <p:sldId id="374" r:id="rId18"/>
    <p:sldId id="371" r:id="rId17"/>
    <p:sldId id="270" r:id="rId28"/>
    <p:sldId id="370" r:id="rId16"/>
    <p:sldId id="261" r:id="rId20"/>
    <p:sldId id="366" r:id="rId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14.xml"/><Relationship Id="rId12" Type="http://schemas.openxmlformats.org/officeDocument/2006/relationships/slide" Target="slides/slide2.xml"/><Relationship Id="rId14" Type="http://schemas.openxmlformats.org/officeDocument/2006/relationships/slide" Target="slides/slide3.xml"/><Relationship Id="rId16" Type="http://schemas.openxmlformats.org/officeDocument/2006/relationships/slide" Target="slides/slide12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20" Type="http://schemas.openxmlformats.org/officeDocument/2006/relationships/slide" Target="slides/slide13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5" Type="http://schemas.openxmlformats.org/officeDocument/2006/relationships/slide" Target="slides/slide5.xml"/><Relationship Id="rId26" Type="http://schemas.openxmlformats.org/officeDocument/2006/relationships/slide" Target="slides/slide4.xml"/><Relationship Id="rId28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ФАЛЬКОН·ReID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"/>
              </a:rPr>
              <a:t>Цифровой признак транспортного средства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FD6E4"/>
                </a:solidFill>
                <a:latin typeface="Montserrat"/>
              </a:rPr>
              <a:t>Поиск автомобиля по внешности — без государственного номера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9496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Кейс №7 · «Фалькон Тех» · ЛЦТ-2026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D6E4"/>
                </a:solidFill>
                <a:latin typeface="Montserrat"/>
              </a:rPr>
              <a:t>Команда: заполните название и состав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Четверной ансамбль DINOv2 ViT-L@336 + ViT-B с частями + ConvNeXt + DINOv3-L; CosFace + batch-hard triplet; постобработка DBA/alphaQE. Эмбеддинг 3840-d, косинусный поиск FAISS. FastAPI + OpenAPI, веб-клиент, Docker офлайн.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Оператор находит машину по снимку за секунды вместо часов ручного просмотра архива. Честный отказ вместо ложных находок. Порог уверенности управляется без переобучения.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/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3291840"/>
            <a:ext cx="48463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mAP 0.844 · Rank-1 0.812 · Rank-5 0.904 на незнакомых ТС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4 больших модели в fp16 — 1505 МБ из лимита 2 ГБ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Запуск одной командой: docker compose up, интернет не нужен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Интерпретируемость: карта внимания к решению модели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291840"/>
            <a:ext cx="48463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Режим отказа: F1 0.768 при TNR 0.739 — порог обоснован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Сами восстанавливаем камеры по фону кадра — отсев дублей сцены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Открытый стек: PyTorch, FastAPI, FAISS (BSD/MIT/Apache)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Готов к пилоту на городском потоке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600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A1A3A"/>
                </a:solidFill>
                <a:latin typeface="Montserrat"/>
              </a:rPr>
              <a:t>Номер не читается — город теряет машину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Грязь и снег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06324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Регистрационный знак нечитаем в плохую погоду — ALPR бессилен.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Блики и ночь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Свет фар и солнца засвечивает знак; ночью деталей мало.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Перекрытие и ракурс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06324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Знак закрыт другим авто или вовсе не в поле зрения камеры.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Ручной поиск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06324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Оператор листает архив сотни часов — и часто безрезультатно.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310F53"/>
                </a:solidFill>
                <a:latin typeface="Montserrat"/>
              </a:rPr>
              <a:t>Решение: устойчивый цифровой признак по внешности — цвет, геометрия, оптика, наклейки, повреждения.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A6280"/>
                </a:solidFill>
                <a:latin typeface="Montserrat"/>
              </a:rPr>
              <a:t>Снимки одного ТС с разных камер сходятся в векторном пространстве — без какой-либо привязки к номеру.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ПУТЬ ОПЕРАТОРА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79" y="152704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310F53"/>
                </a:solidFill>
                <a:latin typeface="Montserrat"/>
              </a:rPr>
              <a:t>Загрузка кадра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79" y="192024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Снимок с камеры в браузере или по API. BBox — из разметки или мышью прямо на кадре.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152704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310F53"/>
                </a:solidFill>
                <a:latin typeface="Montserrat"/>
              </a:rPr>
              <a:t>Цифровой признак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192024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Четверной ансамбль формирует вектор 3840-d за ~0.17 с. Только внешность — номер не используется.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15270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310F53"/>
                </a:solidFill>
                <a:latin typeface="Montserrat"/>
              </a:rPr>
              <a:t>Поиск по галерее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192024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Косинусная близость ко всему архиву. До 10⁶ снимков — FAISS HNSW за миллисекунды.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51760" y="50017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310F53"/>
                </a:solidFill>
                <a:latin typeface="Montserrat"/>
              </a:rPr>
              <a:t>Решение сервиса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5394959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Топ-N кандидатов с уверенностью либо честный отказ, если совпадения нет.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50017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310F53"/>
                </a:solidFill>
                <a:latin typeface="Montserrat"/>
              </a:rPr>
              <a:t>Работа с результатом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5394959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Карта внимания «почему совпало», экспорт CSV, передача материалов в работу.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КАК РАБОТАЕТ ML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Признак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10912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Обучение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6840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Инвариантность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" y="3319272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>
                <a:solidFill>
                  <a:srgbClr val="310F53"/>
                </a:solidFill>
                <a:latin typeface="Montserrat"/>
              </a:rPr>
              <a:t>Четверной ансамбль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DINOv2 ViT-L + ViT-B, DINOv3-L (два поколения самообучения Meta) + ConvNeXt-base (свёртка): признаки декоррелируют ошибки — +4.9 mAP к лучшей одиночной модели.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BNNeck → конкатенация 1.0/0.7/0.5/1.0 → 3840-d float32; постобработка DBA k=3 + alphaQE k=1 даёт ещё +3.4 mAP.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63440" y="3319272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>
                <a:solidFill>
                  <a:srgbClr val="310F53"/>
                </a:solidFill>
                <a:latin typeface="Montserrat"/>
              </a:rPr>
              <a:t>CosFace + batch-hard triplet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Классификация 1541 идентичности с угловым отступом (s=48, m=0.25) + триплеты по самым трудным парам в батче.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PK-сэмплирование 16×4: в каждом батче — разные ракурсы одного ТС.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67928" y="3319272"/>
            <a:ext cx="32095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>
                <a:solidFill>
                  <a:srgbClr val="310F53"/>
                </a:solidFill>
                <a:latin typeface="Montserrat"/>
              </a:rPr>
              <a:t>Ракурс, свет, перекрытия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Аугментации: отражение, color jitter, blur, random erasing (имитация перекрытий).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TTA-отражение на инференсе. Каждый train-ТС снят с 2+ камер — модель учится сближать ракурсы.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572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Поток обработки запроса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0574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0053"/>
                </a:solidFill>
                <a:latin typeface="Montserrat"/>
              </a:rPr>
              <a:t>1 · Получение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36829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изображение + BBox через API/UI, валидация входа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02666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0053"/>
                </a:solidFill>
                <a:latin typeface="Montserrat"/>
              </a:rPr>
              <a:t>2 · Обработка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кроп +6% → четверной ансамбль (DINOv2 + DINOv3 + ConvNeXt) → вектор 3840-d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95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0053"/>
                </a:solidFill>
                <a:latin typeface="Montserrat"/>
              </a:rPr>
              <a:t>3 · Анализ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0682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постобработка DBA/AQE → косинусный поиск FAISS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651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0053"/>
                </a:solidFill>
                <a:latin typeface="Montserrat"/>
              </a:rPr>
              <a:t>4 · Результат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2760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2A1A3A"/>
                </a:solidFill>
                <a:latin typeface="Montserrat"/>
              </a:rPr>
              <a:t>топ-N с уверенностью или отказ при max sim &lt; 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15087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Тонкий клиент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18013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SPA в браузере: BBox мышью, порог на лету, экспорт 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51917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Backend инференса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8117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Python · FastAPI · OpenAPI (Swagger) · GPU/CPU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5295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Векторный индекс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82219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числовой индекс галереи; путь роста — pgvector/Milvus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453999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Контейнеризация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483260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Docker compose, одна команда, офлайн — веса в образе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555040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Интерпретируемость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584301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attention-карты: куда смотрела модель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МЕТРИКИ КАЧЕСТВА</a:t>
            </a:r>
          </a:p>
        </p:txBody>
      </p:sp>
      <p:pic>
        <p:nvPicPr>
          <p:cNvPr id="16" name="Picture 15" descr="trai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65960"/>
            <a:ext cx="5669280" cy="29763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40" y="50749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FFD6E4"/>
                </a:solidFill>
                <a:latin typeface="Montserrat"/>
              </a:rPr>
              <a:t>Кривая обучения: лоссы и валидационный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6235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Валидация: 308 незнакомых ТС · 1317 запросов ·
35% запросов-дистракторов без пары в галерее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197863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0.844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21991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A6280"/>
                </a:solidFill>
                <a:latin typeface="Montserrat"/>
              </a:rPr>
              <a:t>кросс-камерный, основная метрика кейса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1810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Rank-1 / Rank-5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0.812 / 0.904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4223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A6280"/>
                </a:solidFill>
                <a:latin typeface="Montserrat"/>
              </a:rPr>
              <a:t>верный кандидат первым / в пятёрке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4690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mINP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0.839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97103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A6280"/>
                </a:solidFill>
                <a:latin typeface="Montserrat"/>
              </a:rPr>
              <a:t>качество полного списка совпадений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РЕЖИМ ОТКАЗА</a:t>
            </a:r>
          </a:p>
        </p:txBody>
      </p:sp>
      <p:pic>
        <p:nvPicPr>
          <p:cNvPr id="17" name="Picture 16" descr="similarity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4800600" cy="2640330"/>
          </a:xfrm>
          <a:prstGeom prst="rect">
            <a:avLst/>
          </a:prstGeom>
        </p:spPr>
      </p:pic>
      <p:pic>
        <p:nvPicPr>
          <p:cNvPr id="18" name="Picture 17" descr="threshold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96512"/>
            <a:ext cx="4800600" cy="26403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06440" y="118872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Порог τ = 0.320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554480"/>
            <a:ext cx="5989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максимум F1 при ограничении TNR ≥ 0.70 — сетка из 500 порогов на валидации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459736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F1 = 0.768 · TNR = 0.739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825496"/>
            <a:ext cx="5989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баланс находок и честных отказов; безусловный max F1 сидит при TNR ≈ 0.3 — недопустимо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730752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Ловушка теста: дубли той же сцены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096512"/>
            <a:ext cx="5989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72% запросов имели «совпадение» с той же камеры: соседний кадр или та же припаркованная машина. Камеры-группы восстанавливаем по фону кадра и геометрии BBox (точность 0.97–1.0 на train) и исключаем одно-сценных кандидатов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001768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Порог — параметр продукта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367528"/>
            <a:ext cx="5989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оператор меняет строгость в UI/API без переобучения; τ по умолчанию обоснован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310F53"/>
                </a:solidFill>
                <a:latin typeface="Montserrat"/>
              </a:rPr>
              <a:t>АНАЛИЗ ОШИБОК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175564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«Близнецы»</a:t>
            </a:r>
          </a:p>
        </p:txBody>
      </p:sp>
      <p:pic>
        <p:nvPicPr>
          <p:cNvPr id="24" name="Picture 23" descr="errors_false_ac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331720"/>
            <a:ext cx="2788920" cy="4045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9536" y="3657600"/>
            <a:ext cx="2788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Одинаковая массовая модель, цвет и комплектация. Разделяются только микродеталями: диски, наклейки, повреждения.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1208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310F53"/>
                </a:solidFill>
                <a:latin typeface="Montserrat"/>
              </a:rPr>
              <a:t>План: части-признаки и агрегация нескольких кадров трека.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175564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Разворот 180°</a:t>
            </a:r>
          </a:p>
        </p:txBody>
      </p:sp>
      <p:pic>
        <p:nvPicPr>
          <p:cNvPr id="28" name="Picture 27" descr="errors_rank1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31720"/>
            <a:ext cx="2788920" cy="430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54296" y="3657600"/>
            <a:ext cx="2788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Запрос «в лоб», в галерее — только корма. Совпадение находится, но уверенность падает к порогу.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521208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310F53"/>
                </a:solidFill>
                <a:latin typeface="Montserrat"/>
              </a:rPr>
              <a:t>План: синтетика ракурсов и парные аугментации.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175564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Ночь и дальний план</a:t>
            </a:r>
          </a:p>
        </p:txBody>
      </p:sp>
      <p:pic>
        <p:nvPicPr>
          <p:cNvPr id="32" name="Picture 31" descr="hard_corr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331720"/>
            <a:ext cx="2788920" cy="4202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22792" y="3657600"/>
            <a:ext cx="2788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2A1A3A"/>
                </a:solidFill>
                <a:latin typeface="Montserrat"/>
              </a:rPr>
              <a:t>Деталей физически мало — уверенность честно низкая, запрос уходит в отказ.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521208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310F53"/>
                </a:solidFill>
                <a:latin typeface="Montserrat"/>
              </a:rPr>
              <a:t>Это корректное поведение: сервис знает, чего не знает.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СКОРОСТЬ И МАСШТАБ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164 мс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78892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признак одного ТС, батч = 1, включая препроцессинг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13 FPS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1296" y="278892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пакетная обработка на RTX 3060 без роста памяти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1505 МБ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78892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4 модели в fp16 — в лимит 2048 МБ с запасом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10⁶ галерея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278892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FAISS HNSW: 0.4 мс/запрос, recall@10 0.88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309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FFD6E4"/>
                </a:solidFill>
                <a:latin typeface="Montserrat"/>
              </a:rPr>
              <a:t>Замеры: src/benchmark.py и src/ann_demo.py · официальные замеры — эталонный скрипт организаторов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localhost:8000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localhost:8000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p/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p/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ДЕМО</a:t>
            </a:r>
          </a:p>
        </p:txBody>
      </p:sp>
      <p:pic>
        <p:nvPicPr>
          <p:cNvPr id="57" name="Picture 56" descr="ui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72768"/>
            <a:ext cx="4224528" cy="2760025"/>
          </a:xfrm>
          <a:prstGeom prst="rect">
            <a:avLst/>
          </a:prstGeom>
        </p:spPr>
      </p:pic>
      <p:pic>
        <p:nvPicPr>
          <p:cNvPr id="58" name="Picture 57" descr="ui_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572768"/>
            <a:ext cx="4224528" cy="84490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88720" y="44988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310F53"/>
                </a:solidFill>
                <a:latin typeface="Montserrat"/>
              </a:rPr>
              <a:t>Консоль оператора (стиль Linear)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0568" y="4498848"/>
            <a:ext cx="4224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310F53"/>
                </a:solidFill>
                <a:latin typeface="Montserrat"/>
              </a:rPr>
              <a:t>Лендинг сервиса · Swagger на /docs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13892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▪  Рамка BBox рисуется мышью прямо на кадре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513892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▪  Порог отказа и top-N меняются на лету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5797296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▪  Карта внимания: почему пары считаются совпадением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5797296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▪  Экспорт кандидатов в CSV одним кликом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310F53"/>
                </a:solidFill>
                <a:latin typeface="Montserrat"/>
              </a:rPr>
              <a:t>СООТВЕТСТВИЕ ТЗ И АРТЕФАКТЫ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66420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✓  Артефакты сдачи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68249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submission.csv · embeddings.npy · candidates.csv — формат и порядок проверены самотестом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4203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✓  Запуск одной командой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56032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docker compose up → сервис+UI · compose run inference → артефакты; офлайн, веса в образе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19856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✓  API и тонкий клиент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438144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OpenAPI/Swagger на /docs; доступ из любого браузера без установки ПО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✓  Ограничения ресурсов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315968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веса 1505 МБ ≤ 2048 МБ · инференс без OOM · латентность и FPS в benchmark.json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3892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✓  Чистота решения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515721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признаки номера не используются (номера размыты; подтверждено attention-картами)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84048" y="329184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РАЗВИТИЕ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23444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Ближайшие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645920"/>
            <a:ext cx="6309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A1A3A"/>
                </a:solidFill>
                <a:latin typeface="Montserrat"/>
              </a:rPr>
              <a:t>Части-признаки для «близнецов» · мультикадровая агрегация треков · калибровка уверенности на большем валидационном наборе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918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Пилот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10128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интеграция с потоком камерного парка, dead-letter очереди, метрики качества на живых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7822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Масштаб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096511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pgvector/Milvus, шардирование по округам и времени, реплики API за балансировщиком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646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Качество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882896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дообучение на потоке (semi-supervised), hard-negative mining на городских «близнецах»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50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0053"/>
                </a:solidFill>
                <a:latin typeface="Montserrat"/>
              </a:rPr>
              <a:t>Продукт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66928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A1A3A"/>
                </a:solidFill>
                <a:latin typeface="Montserrat"/>
              </a:rPr>
              <a:t>трекинг + мультикамерные треки, поиск по нескольким снимкам, роли и аудит операторов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Обоснованный порог отказа (F1/TNR), интерпретируемость решений, готовность к 10⁶ галерее и запуск одной командой.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Сервис Re-ID: поиск автомобиля по внешности без номера. DINOv2 + CosFace, честный режим отказа, Docker офлайн, веб-интерфейс.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